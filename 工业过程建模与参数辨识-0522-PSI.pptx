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4.xml" ContentType="application/vnd.openxmlformats-officedocument.presentationml.notesSlide+xml"/>
  <Override PartName="/ppt/tags/tag38.xml" ContentType="application/vnd.openxmlformats-officedocument.presentationml.tags+xml"/>
  <Override PartName="/ppt/notesSlides/notesSlide5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6.xml" ContentType="application/vnd.openxmlformats-officedocument.presentationml.notesSlide+xml"/>
  <Override PartName="/ppt/tags/tag4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1" r:id="rId2"/>
  </p:sldMasterIdLst>
  <p:notesMasterIdLst>
    <p:notesMasterId r:id="rId16"/>
  </p:notesMasterIdLst>
  <p:sldIdLst>
    <p:sldId id="356" r:id="rId3"/>
    <p:sldId id="2129" r:id="rId4"/>
    <p:sldId id="2141412695" r:id="rId5"/>
    <p:sldId id="2141412696" r:id="rId6"/>
    <p:sldId id="2141412705" r:id="rId7"/>
    <p:sldId id="2141412707" r:id="rId8"/>
    <p:sldId id="2141412697" r:id="rId9"/>
    <p:sldId id="2141412699" r:id="rId10"/>
    <p:sldId id="2141412704" r:id="rId11"/>
    <p:sldId id="2141412685" r:id="rId12"/>
    <p:sldId id="2141412693" r:id="rId13"/>
    <p:sldId id="2141412682" r:id="rId14"/>
    <p:sldId id="36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08AC3BA-46BD-4370-AEDF-B716B9ED7450}">
          <p14:sldIdLst>
            <p14:sldId id="356"/>
            <p14:sldId id="2129"/>
            <p14:sldId id="2141412695"/>
            <p14:sldId id="2141412696"/>
            <p14:sldId id="2141412705"/>
            <p14:sldId id="2141412707"/>
            <p14:sldId id="2141412697"/>
            <p14:sldId id="2141412699"/>
            <p14:sldId id="2141412704"/>
            <p14:sldId id="2141412685"/>
            <p14:sldId id="2141412693"/>
            <p14:sldId id="2141412682"/>
            <p14:sldId id="365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18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74ED33-B608-E2D3-B1B0-59AEF019D8FC}" name="Hongye Guo" initials="HG" userId="48de884c3fc48668" providerId="Windows Live"/>
  <p188:author id="{04CD7D6A-448E-FFF2-765B-250D7159CC94}" name="Hongye Guo" initials="Guo" userId="Hongye Guo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nkpad" initials="T" lastIdx="26" clrIdx="0">
    <p:extLst>
      <p:ext uri="{19B8F6BF-5375-455C-9EA6-DF929625EA0E}">
        <p15:presenceInfo xmlns:p15="http://schemas.microsoft.com/office/powerpoint/2012/main" userId="Thinkpad" providerId="None"/>
      </p:ext>
    </p:extLst>
  </p:cmAuthor>
  <p:cmAuthor id="2" name="Hongye Guo" initials="HY" lastIdx="109" clrIdx="1">
    <p:extLst>
      <p:ext uri="{19B8F6BF-5375-455C-9EA6-DF929625EA0E}">
        <p15:presenceInfo xmlns:p15="http://schemas.microsoft.com/office/powerpoint/2012/main" userId="Hongye Guo" providerId="None"/>
      </p:ext>
    </p:extLst>
  </p:cmAuthor>
  <p:cmAuthor id="3" name="Li" initials="T" lastIdx="1" clrIdx="2">
    <p:extLst>
      <p:ext uri="{19B8F6BF-5375-455C-9EA6-DF929625EA0E}">
        <p15:presenceInfo xmlns:p15="http://schemas.microsoft.com/office/powerpoint/2012/main" userId="ae3ca1c995b7c8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E4FC"/>
    <a:srgbClr val="E9EBF5"/>
    <a:srgbClr val="AB17D3"/>
    <a:srgbClr val="DEC9FB"/>
    <a:srgbClr val="580C6E"/>
    <a:srgbClr val="862C73"/>
    <a:srgbClr val="692266"/>
    <a:srgbClr val="61106A"/>
    <a:srgbClr val="AC2761"/>
    <a:srgbClr val="921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 autoAdjust="0"/>
    <p:restoredTop sz="90381" autoAdjust="0"/>
  </p:normalViewPr>
  <p:slideViewPr>
    <p:cSldViewPr snapToGrid="0">
      <p:cViewPr varScale="1">
        <p:scale>
          <a:sx n="84" d="100"/>
          <a:sy n="84" d="100"/>
        </p:scale>
        <p:origin x="912" y="192"/>
      </p:cViewPr>
      <p:guideLst>
        <p:guide pos="3840"/>
        <p:guide orient="horz" pos="186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76" d="100"/>
          <a:sy n="76" d="100"/>
        </p:scale>
        <p:origin x="2620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84938-860B-40A8-9DE6-812BAC971F07}" type="datetimeFigureOut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DB2CD-2A9E-4DF6-82E8-63C03AA850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DB2CD-2A9E-4DF6-82E8-63C03AA850A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614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564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683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467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102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392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16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483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859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459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775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83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0318B10-8196-4784-9E3B-5DAD9A28A91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cs typeface="+mn-cs"/>
              </a:rPr>
              <a:t>2025/3/15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2889-78EC-49BB-882E-9AE69531886E}" type="datetime1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CC601-7129-4E41-8F55-52C3B7702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42422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3B315-F879-413F-8C30-D2614DDF3485}" type="datetime1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EE5D8-6200-46CA-A960-1DA5B550D2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ransition spd="slow">
    <p:wip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0B9A4-EF5C-4BD8-AC2B-C1CF4CEEAD4E}" type="datetime1">
              <a:rPr lang="zh-CN" altLang="en-US" smtClean="0"/>
              <a:t>2025/3/15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EE5D8-6200-46CA-A960-1DA5B550D2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ransition spd="slow">
    <p:wip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17" Type="http://schemas.openxmlformats.org/officeDocument/2006/relationships/image" Target="../media/image12.GIF"/><Relationship Id="rId2" Type="http://schemas.openxmlformats.org/officeDocument/2006/relationships/tags" Target="../tags/tag2.xml"/><Relationship Id="rId16" Type="http://schemas.openxmlformats.org/officeDocument/2006/relationships/image" Target="../media/image11.png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7.png"/><Relationship Id="rId5" Type="http://schemas.openxmlformats.org/officeDocument/2006/relationships/image" Target="../media/image3.jpeg"/><Relationship Id="rId15" Type="http://schemas.openxmlformats.org/officeDocument/2006/relationships/image" Target="../media/image10.png"/><Relationship Id="rId10" Type="http://schemas.openxmlformats.org/officeDocument/2006/relationships/image" Target="../media/image6.emf"/><Relationship Id="rId4" Type="http://schemas.openxmlformats.org/officeDocument/2006/relationships/notesSlide" Target="../notesSlides/notesSlide2.xml"/><Relationship Id="rId9" Type="http://schemas.openxmlformats.org/officeDocument/2006/relationships/oleObject" Target="../embeddings/oleObject1.bin"/><Relationship Id="rId1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5.xml"/><Relationship Id="rId7" Type="http://schemas.openxmlformats.org/officeDocument/2006/relationships/image" Target="../media/image4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9" Type="http://schemas.openxmlformats.org/officeDocument/2006/relationships/image" Target="../media/image15.png"/><Relationship Id="rId21" Type="http://schemas.openxmlformats.org/officeDocument/2006/relationships/tags" Target="../tags/tag26.xml"/><Relationship Id="rId34" Type="http://schemas.openxmlformats.org/officeDocument/2006/relationships/notesSlide" Target="../notesSlides/notesSlide4.xml"/><Relationship Id="rId42" Type="http://schemas.openxmlformats.org/officeDocument/2006/relationships/image" Target="../media/image17.wmf"/><Relationship Id="rId47" Type="http://schemas.openxmlformats.org/officeDocument/2006/relationships/oleObject" Target="../embeddings/oleObject5.bin"/><Relationship Id="rId50" Type="http://schemas.openxmlformats.org/officeDocument/2006/relationships/image" Target="../media/image21.wmf"/><Relationship Id="rId55" Type="http://schemas.openxmlformats.org/officeDocument/2006/relationships/oleObject" Target="../embeddings/oleObject9.bin"/><Relationship Id="rId63" Type="http://schemas.openxmlformats.org/officeDocument/2006/relationships/image" Target="../media/image28.png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9" Type="http://schemas.openxmlformats.org/officeDocument/2006/relationships/tags" Target="../tags/tag34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image" Target="../media/image5.png"/><Relationship Id="rId40" Type="http://schemas.openxmlformats.org/officeDocument/2006/relationships/image" Target="../media/image16.GIF"/><Relationship Id="rId45" Type="http://schemas.openxmlformats.org/officeDocument/2006/relationships/oleObject" Target="../embeddings/oleObject4.bin"/><Relationship Id="rId53" Type="http://schemas.openxmlformats.org/officeDocument/2006/relationships/oleObject" Target="../embeddings/oleObject8.bin"/><Relationship Id="rId58" Type="http://schemas.openxmlformats.org/officeDocument/2006/relationships/image" Target="../media/image25.wmf"/><Relationship Id="rId5" Type="http://schemas.openxmlformats.org/officeDocument/2006/relationships/tags" Target="../tags/tag10.xml"/><Relationship Id="rId61" Type="http://schemas.openxmlformats.org/officeDocument/2006/relationships/oleObject" Target="../embeddings/oleObject12.bin"/><Relationship Id="rId19" Type="http://schemas.openxmlformats.org/officeDocument/2006/relationships/tags" Target="../tags/tag2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image" Target="../media/image3.jpeg"/><Relationship Id="rId43" Type="http://schemas.openxmlformats.org/officeDocument/2006/relationships/oleObject" Target="../embeddings/oleObject3.bin"/><Relationship Id="rId48" Type="http://schemas.openxmlformats.org/officeDocument/2006/relationships/image" Target="../media/image20.wmf"/><Relationship Id="rId56" Type="http://schemas.openxmlformats.org/officeDocument/2006/relationships/image" Target="../media/image24.wmf"/><Relationship Id="rId8" Type="http://schemas.openxmlformats.org/officeDocument/2006/relationships/tags" Target="../tags/tag13.xml"/><Relationship Id="rId51" Type="http://schemas.openxmlformats.org/officeDocument/2006/relationships/oleObject" Target="../embeddings/oleObject7.bin"/><Relationship Id="rId3" Type="http://schemas.openxmlformats.org/officeDocument/2006/relationships/tags" Target="../tags/tag8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slideLayout" Target="../slideLayouts/slideLayout1.xml"/><Relationship Id="rId38" Type="http://schemas.microsoft.com/office/2007/relationships/hdphoto" Target="../media/hdphoto2.wdp"/><Relationship Id="rId46" Type="http://schemas.openxmlformats.org/officeDocument/2006/relationships/image" Target="../media/image19.wmf"/><Relationship Id="rId59" Type="http://schemas.openxmlformats.org/officeDocument/2006/relationships/oleObject" Target="../embeddings/oleObject11.bin"/><Relationship Id="rId20" Type="http://schemas.openxmlformats.org/officeDocument/2006/relationships/tags" Target="../tags/tag25.xml"/><Relationship Id="rId41" Type="http://schemas.openxmlformats.org/officeDocument/2006/relationships/oleObject" Target="../embeddings/oleObject2.bin"/><Relationship Id="rId54" Type="http://schemas.openxmlformats.org/officeDocument/2006/relationships/image" Target="../media/image23.wmf"/><Relationship Id="rId62" Type="http://schemas.openxmlformats.org/officeDocument/2006/relationships/image" Target="../media/image27.wmf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image" Target="../media/image4.jpeg"/><Relationship Id="rId49" Type="http://schemas.openxmlformats.org/officeDocument/2006/relationships/oleObject" Target="../embeddings/oleObject6.bin"/><Relationship Id="rId57" Type="http://schemas.openxmlformats.org/officeDocument/2006/relationships/oleObject" Target="../embeddings/oleObject10.bin"/><Relationship Id="rId10" Type="http://schemas.openxmlformats.org/officeDocument/2006/relationships/tags" Target="../tags/tag15.xml"/><Relationship Id="rId31" Type="http://schemas.openxmlformats.org/officeDocument/2006/relationships/tags" Target="../tags/tag36.xml"/><Relationship Id="rId44" Type="http://schemas.openxmlformats.org/officeDocument/2006/relationships/image" Target="../media/image18.wmf"/><Relationship Id="rId52" Type="http://schemas.openxmlformats.org/officeDocument/2006/relationships/image" Target="../media/image22.wmf"/><Relationship Id="rId60" Type="http://schemas.openxmlformats.org/officeDocument/2006/relationships/image" Target="../media/image26.wmf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5.xml"/><Relationship Id="rId7" Type="http://schemas.microsoft.com/office/2007/relationships/hdphoto" Target="../media/hdphoto2.wdp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Relationship Id="rId6" Type="http://schemas.openxmlformats.org/officeDocument/2006/relationships/image" Target="../media/image5.png"/><Relationship Id="rId11" Type="http://schemas.openxmlformats.org/officeDocument/2006/relationships/image" Target="../media/image32.emf"/><Relationship Id="rId5" Type="http://schemas.openxmlformats.org/officeDocument/2006/relationships/image" Target="../media/image4.jpeg"/><Relationship Id="rId10" Type="http://schemas.openxmlformats.org/officeDocument/2006/relationships/image" Target="../media/image31.emf"/><Relationship Id="rId4" Type="http://schemas.openxmlformats.org/officeDocument/2006/relationships/image" Target="../media/image3.jpe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34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notesSlide" Target="../notesSlides/notesSlide7.xml"/><Relationship Id="rId7" Type="http://schemas.microsoft.com/office/2007/relationships/hdphoto" Target="../media/hdphoto2.wdp"/><Relationship Id="rId12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Relationship Id="rId6" Type="http://schemas.openxmlformats.org/officeDocument/2006/relationships/image" Target="../media/image5.png"/><Relationship Id="rId11" Type="http://schemas.openxmlformats.org/officeDocument/2006/relationships/image" Target="../media/image38.png"/><Relationship Id="rId5" Type="http://schemas.openxmlformats.org/officeDocument/2006/relationships/image" Target="../media/image4.jpeg"/><Relationship Id="rId10" Type="http://schemas.openxmlformats.org/officeDocument/2006/relationships/image" Target="../media/image37.png"/><Relationship Id="rId4" Type="http://schemas.openxmlformats.org/officeDocument/2006/relationships/image" Target="../media/image3.jpe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microsoft.com/office/2007/relationships/hdphoto" Target="../media/hdphoto2.wdp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13" Type="http://schemas.openxmlformats.org/officeDocument/2006/relationships/image" Target="../media/image46.png"/><Relationship Id="rId3" Type="http://schemas.openxmlformats.org/officeDocument/2006/relationships/tags" Target="../tags/tag45.xml"/><Relationship Id="rId7" Type="http://schemas.openxmlformats.org/officeDocument/2006/relationships/slideLayout" Target="../slideLayouts/slideLayout1.xml"/><Relationship Id="rId12" Type="http://schemas.microsoft.com/office/2007/relationships/hdphoto" Target="../media/hdphoto2.wdp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5.png"/><Relationship Id="rId5" Type="http://schemas.openxmlformats.org/officeDocument/2006/relationships/tags" Target="../tags/tag47.xml"/><Relationship Id="rId15" Type="http://schemas.openxmlformats.org/officeDocument/2006/relationships/image" Target="../media/image48.png"/><Relationship Id="rId10" Type="http://schemas.openxmlformats.org/officeDocument/2006/relationships/image" Target="../media/image4.jpeg"/><Relationship Id="rId4" Type="http://schemas.openxmlformats.org/officeDocument/2006/relationships/tags" Target="../tags/tag46.xml"/><Relationship Id="rId9" Type="http://schemas.openxmlformats.org/officeDocument/2006/relationships/image" Target="../media/image3.jpe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7748" y="-15896"/>
            <a:ext cx="12227495" cy="6050360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6" name="图形 10"/>
          <p:cNvGrpSpPr/>
          <p:nvPr/>
        </p:nvGrpSpPr>
        <p:grpSpPr>
          <a:xfrm rot="1911398" flipH="1">
            <a:off x="-4737934" y="102838"/>
            <a:ext cx="18785954" cy="9463205"/>
            <a:chOff x="1364551" y="1662116"/>
            <a:chExt cx="9464325" cy="3530151"/>
          </a:xfrm>
          <a:noFill/>
        </p:grpSpPr>
        <p:sp>
          <p:nvSpPr>
            <p:cNvPr id="37" name="任意多边形: 形状 36"/>
            <p:cNvSpPr/>
            <p:nvPr/>
          </p:nvSpPr>
          <p:spPr>
            <a:xfrm>
              <a:off x="1364551" y="3777993"/>
              <a:ext cx="9464325" cy="1414274"/>
            </a:xfrm>
            <a:custGeom>
              <a:avLst/>
              <a:gdLst>
                <a:gd name="connsiteX0" fmla="*/ 0 w 9464325"/>
                <a:gd name="connsiteY0" fmla="*/ 1414275 h 1414274"/>
                <a:gd name="connsiteX1" fmla="*/ 3078766 w 9464325"/>
                <a:gd name="connsiteY1" fmla="*/ 426056 h 1414274"/>
                <a:gd name="connsiteX2" fmla="*/ 6081522 w 9464325"/>
                <a:gd name="connsiteY2" fmla="*/ 920213 h 1414274"/>
                <a:gd name="connsiteX3" fmla="*/ 9464326 w 9464325"/>
                <a:gd name="connsiteY3" fmla="*/ 46008 h 1414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64325" h="1414274">
                  <a:moveTo>
                    <a:pt x="0" y="1414275"/>
                  </a:moveTo>
                  <a:cubicBezTo>
                    <a:pt x="0" y="1414275"/>
                    <a:pt x="1824419" y="312042"/>
                    <a:pt x="3078766" y="426056"/>
                  </a:cubicBezTo>
                  <a:cubicBezTo>
                    <a:pt x="4184618" y="526545"/>
                    <a:pt x="4763834" y="1160910"/>
                    <a:pt x="6081522" y="920213"/>
                  </a:cubicBezTo>
                  <a:cubicBezTo>
                    <a:pt x="7029831" y="746953"/>
                    <a:pt x="8235410" y="-220025"/>
                    <a:pt x="9464326" y="4600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385887" y="3686296"/>
              <a:ext cx="9428702" cy="1351094"/>
            </a:xfrm>
            <a:custGeom>
              <a:avLst/>
              <a:gdLst>
                <a:gd name="connsiteX0" fmla="*/ 0 w 9428702"/>
                <a:gd name="connsiteY0" fmla="*/ 1351095 h 1351094"/>
                <a:gd name="connsiteX1" fmla="*/ 3014282 w 9428702"/>
                <a:gd name="connsiteY1" fmla="*/ 411263 h 1351094"/>
                <a:gd name="connsiteX2" fmla="*/ 6063139 w 9428702"/>
                <a:gd name="connsiteY2" fmla="*/ 975619 h 1351094"/>
                <a:gd name="connsiteX3" fmla="*/ 9428702 w 9428702"/>
                <a:gd name="connsiteY3" fmla="*/ 43788 h 1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8702" h="1351094">
                  <a:moveTo>
                    <a:pt x="0" y="1351095"/>
                  </a:moveTo>
                  <a:cubicBezTo>
                    <a:pt x="0" y="1351095"/>
                    <a:pt x="1769840" y="284390"/>
                    <a:pt x="3014282" y="411263"/>
                  </a:cubicBezTo>
                  <a:cubicBezTo>
                    <a:pt x="4125754" y="528516"/>
                    <a:pt x="4762024" y="1211934"/>
                    <a:pt x="6063139" y="975619"/>
                  </a:cubicBezTo>
                  <a:cubicBezTo>
                    <a:pt x="7011639" y="803788"/>
                    <a:pt x="8199692" y="-222245"/>
                    <a:pt x="9428702" y="4378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1407128" y="3594367"/>
              <a:ext cx="9392983" cy="1288052"/>
            </a:xfrm>
            <a:custGeom>
              <a:avLst/>
              <a:gdLst>
                <a:gd name="connsiteX0" fmla="*/ 0 w 9392983"/>
                <a:gd name="connsiteY0" fmla="*/ 1288053 h 1288052"/>
                <a:gd name="connsiteX1" fmla="*/ 2949798 w 9392983"/>
                <a:gd name="connsiteY1" fmla="*/ 396513 h 1288052"/>
                <a:gd name="connsiteX2" fmla="*/ 6044661 w 9392983"/>
                <a:gd name="connsiteY2" fmla="*/ 1031163 h 1288052"/>
                <a:gd name="connsiteX3" fmla="*/ 9392983 w 9392983"/>
                <a:gd name="connsiteY3" fmla="*/ 41802 h 1288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92983" h="1288052">
                  <a:moveTo>
                    <a:pt x="0" y="1288053"/>
                  </a:moveTo>
                  <a:cubicBezTo>
                    <a:pt x="0" y="1288053"/>
                    <a:pt x="1715643" y="252780"/>
                    <a:pt x="2949798" y="396513"/>
                  </a:cubicBezTo>
                  <a:cubicBezTo>
                    <a:pt x="4067270" y="526719"/>
                    <a:pt x="4760119" y="1263002"/>
                    <a:pt x="6044661" y="1031163"/>
                  </a:cubicBezTo>
                  <a:cubicBezTo>
                    <a:pt x="6993446" y="860666"/>
                    <a:pt x="8163973" y="-224327"/>
                    <a:pt x="9392983" y="41802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1428464" y="3502412"/>
              <a:ext cx="9357169" cy="1225130"/>
            </a:xfrm>
            <a:custGeom>
              <a:avLst/>
              <a:gdLst>
                <a:gd name="connsiteX0" fmla="*/ 0 w 9357169"/>
                <a:gd name="connsiteY0" fmla="*/ 1225131 h 1225130"/>
                <a:gd name="connsiteX1" fmla="*/ 2885218 w 9357169"/>
                <a:gd name="connsiteY1" fmla="*/ 381978 h 1225130"/>
                <a:gd name="connsiteX2" fmla="*/ 6026182 w 9357169"/>
                <a:gd name="connsiteY2" fmla="*/ 1086923 h 1225130"/>
                <a:gd name="connsiteX3" fmla="*/ 9357169 w 9357169"/>
                <a:gd name="connsiteY3" fmla="*/ 39935 h 122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57169" h="1225130">
                  <a:moveTo>
                    <a:pt x="0" y="1225131"/>
                  </a:moveTo>
                  <a:cubicBezTo>
                    <a:pt x="0" y="1225131"/>
                    <a:pt x="1661255" y="223672"/>
                    <a:pt x="2885218" y="381978"/>
                  </a:cubicBezTo>
                  <a:cubicBezTo>
                    <a:pt x="4008596" y="527330"/>
                    <a:pt x="4758214" y="1314190"/>
                    <a:pt x="6026182" y="1086923"/>
                  </a:cubicBezTo>
                  <a:cubicBezTo>
                    <a:pt x="6975158" y="917855"/>
                    <a:pt x="8128254" y="-226098"/>
                    <a:pt x="9357169" y="39935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449800" y="3410088"/>
              <a:ext cx="9321545" cy="1180334"/>
            </a:xfrm>
            <a:custGeom>
              <a:avLst/>
              <a:gdLst>
                <a:gd name="connsiteX0" fmla="*/ 0 w 9321545"/>
                <a:gd name="connsiteY0" fmla="*/ 1162484 h 1180334"/>
                <a:gd name="connsiteX1" fmla="*/ 2820734 w 9321545"/>
                <a:gd name="connsiteY1" fmla="*/ 367717 h 1180334"/>
                <a:gd name="connsiteX2" fmla="*/ 6007799 w 9321545"/>
                <a:gd name="connsiteY2" fmla="*/ 1142862 h 1180334"/>
                <a:gd name="connsiteX3" fmla="*/ 9321546 w 9321545"/>
                <a:gd name="connsiteY3" fmla="*/ 38248 h 118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21545" h="1180334">
                  <a:moveTo>
                    <a:pt x="0" y="1162484"/>
                  </a:moveTo>
                  <a:cubicBezTo>
                    <a:pt x="0" y="1162484"/>
                    <a:pt x="1606868" y="195125"/>
                    <a:pt x="2820734" y="367717"/>
                  </a:cubicBezTo>
                  <a:cubicBezTo>
                    <a:pt x="3949922" y="528309"/>
                    <a:pt x="4756309" y="1365747"/>
                    <a:pt x="6007799" y="1142862"/>
                  </a:cubicBezTo>
                  <a:cubicBezTo>
                    <a:pt x="6957060" y="975222"/>
                    <a:pt x="8092536" y="-227785"/>
                    <a:pt x="9321546" y="3824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471040" y="3317886"/>
              <a:ext cx="9285732" cy="1233216"/>
            </a:xfrm>
            <a:custGeom>
              <a:avLst/>
              <a:gdLst>
                <a:gd name="connsiteX0" fmla="*/ 0 w 9285732"/>
                <a:gd name="connsiteY0" fmla="*/ 1099808 h 1233216"/>
                <a:gd name="connsiteX1" fmla="*/ 2756249 w 9285732"/>
                <a:gd name="connsiteY1" fmla="*/ 353429 h 1233216"/>
                <a:gd name="connsiteX2" fmla="*/ 5989320 w 9285732"/>
                <a:gd name="connsiteY2" fmla="*/ 1198869 h 1233216"/>
                <a:gd name="connsiteX3" fmla="*/ 9285732 w 9285732"/>
                <a:gd name="connsiteY3" fmla="*/ 36723 h 1233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5732" h="1233216">
                  <a:moveTo>
                    <a:pt x="0" y="1099808"/>
                  </a:moveTo>
                  <a:cubicBezTo>
                    <a:pt x="0" y="1099808"/>
                    <a:pt x="1552575" y="166739"/>
                    <a:pt x="2756249" y="353429"/>
                  </a:cubicBezTo>
                  <a:cubicBezTo>
                    <a:pt x="3891344" y="529547"/>
                    <a:pt x="4754499" y="1417277"/>
                    <a:pt x="5989320" y="1198869"/>
                  </a:cubicBezTo>
                  <a:cubicBezTo>
                    <a:pt x="6938772" y="1032562"/>
                    <a:pt x="8056817" y="-229405"/>
                    <a:pt x="9285732" y="36723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492377" y="3225423"/>
              <a:ext cx="9250108" cy="1286593"/>
            </a:xfrm>
            <a:custGeom>
              <a:avLst/>
              <a:gdLst>
                <a:gd name="connsiteX0" fmla="*/ 0 w 9250108"/>
                <a:gd name="connsiteY0" fmla="*/ 1037395 h 1286593"/>
                <a:gd name="connsiteX1" fmla="*/ 2691765 w 9250108"/>
                <a:gd name="connsiteY1" fmla="*/ 339402 h 1286593"/>
                <a:gd name="connsiteX2" fmla="*/ 5970937 w 9250108"/>
                <a:gd name="connsiteY2" fmla="*/ 1255041 h 1286593"/>
                <a:gd name="connsiteX3" fmla="*/ 9250109 w 9250108"/>
                <a:gd name="connsiteY3" fmla="*/ 35269 h 1286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50108" h="1286593">
                  <a:moveTo>
                    <a:pt x="0" y="1037395"/>
                  </a:moveTo>
                  <a:cubicBezTo>
                    <a:pt x="0" y="1037395"/>
                    <a:pt x="1498187" y="138901"/>
                    <a:pt x="2691765" y="339402"/>
                  </a:cubicBezTo>
                  <a:cubicBezTo>
                    <a:pt x="3832765" y="531141"/>
                    <a:pt x="4752594" y="1469067"/>
                    <a:pt x="5970937" y="1255041"/>
                  </a:cubicBezTo>
                  <a:cubicBezTo>
                    <a:pt x="6920675" y="1090163"/>
                    <a:pt x="8021098" y="-230764"/>
                    <a:pt x="9250109" y="35269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1513713" y="3132904"/>
              <a:ext cx="9214485" cy="1340243"/>
            </a:xfrm>
            <a:custGeom>
              <a:avLst/>
              <a:gdLst>
                <a:gd name="connsiteX0" fmla="*/ 0 w 9214485"/>
                <a:gd name="connsiteY0" fmla="*/ 974942 h 1340243"/>
                <a:gd name="connsiteX1" fmla="*/ 2627281 w 9214485"/>
                <a:gd name="connsiteY1" fmla="*/ 325337 h 1340243"/>
                <a:gd name="connsiteX2" fmla="*/ 5952554 w 9214485"/>
                <a:gd name="connsiteY2" fmla="*/ 1311270 h 1340243"/>
                <a:gd name="connsiteX3" fmla="*/ 9214485 w 9214485"/>
                <a:gd name="connsiteY3" fmla="*/ 33967 h 1340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4485" h="1340243">
                  <a:moveTo>
                    <a:pt x="0" y="974942"/>
                  </a:moveTo>
                  <a:cubicBezTo>
                    <a:pt x="0" y="974942"/>
                    <a:pt x="1443800" y="111120"/>
                    <a:pt x="2627281" y="325337"/>
                  </a:cubicBezTo>
                  <a:cubicBezTo>
                    <a:pt x="3774186" y="532887"/>
                    <a:pt x="4750785" y="1520725"/>
                    <a:pt x="5952554" y="1311270"/>
                  </a:cubicBezTo>
                  <a:cubicBezTo>
                    <a:pt x="6902482" y="1147821"/>
                    <a:pt x="7985474" y="-232161"/>
                    <a:pt x="9214485" y="33967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535048" y="3040331"/>
              <a:ext cx="9178670" cy="1394298"/>
            </a:xfrm>
            <a:custGeom>
              <a:avLst/>
              <a:gdLst>
                <a:gd name="connsiteX0" fmla="*/ 0 w 9178670"/>
                <a:gd name="connsiteY0" fmla="*/ 912638 h 1394298"/>
                <a:gd name="connsiteX1" fmla="*/ 2562797 w 9178670"/>
                <a:gd name="connsiteY1" fmla="*/ 311420 h 1394298"/>
                <a:gd name="connsiteX2" fmla="*/ 5934075 w 9178670"/>
                <a:gd name="connsiteY2" fmla="*/ 1367648 h 1394298"/>
                <a:gd name="connsiteX3" fmla="*/ 9178671 w 9178670"/>
                <a:gd name="connsiteY3" fmla="*/ 32719 h 139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8670" h="1394298">
                  <a:moveTo>
                    <a:pt x="0" y="912638"/>
                  </a:moveTo>
                  <a:cubicBezTo>
                    <a:pt x="0" y="912638"/>
                    <a:pt x="1389412" y="83868"/>
                    <a:pt x="2562797" y="311420"/>
                  </a:cubicBezTo>
                  <a:cubicBezTo>
                    <a:pt x="3715607" y="534972"/>
                    <a:pt x="4748879" y="1572626"/>
                    <a:pt x="5934075" y="1367648"/>
                  </a:cubicBezTo>
                  <a:cubicBezTo>
                    <a:pt x="6884194" y="1205532"/>
                    <a:pt x="7949756" y="-233314"/>
                    <a:pt x="9178671" y="32719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556289" y="2947464"/>
              <a:ext cx="9142952" cy="1448684"/>
            </a:xfrm>
            <a:custGeom>
              <a:avLst/>
              <a:gdLst>
                <a:gd name="connsiteX0" fmla="*/ 0 w 9142952"/>
                <a:gd name="connsiteY0" fmla="*/ 850534 h 1448684"/>
                <a:gd name="connsiteX1" fmla="*/ 2498217 w 9142952"/>
                <a:gd name="connsiteY1" fmla="*/ 297703 h 1448684"/>
                <a:gd name="connsiteX2" fmla="*/ 5915597 w 9142952"/>
                <a:gd name="connsiteY2" fmla="*/ 1424130 h 1448684"/>
                <a:gd name="connsiteX3" fmla="*/ 9142953 w 9142952"/>
                <a:gd name="connsiteY3" fmla="*/ 31575 h 144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2952" h="1448684">
                  <a:moveTo>
                    <a:pt x="0" y="850534"/>
                  </a:moveTo>
                  <a:cubicBezTo>
                    <a:pt x="0" y="850534"/>
                    <a:pt x="1334929" y="56911"/>
                    <a:pt x="2498217" y="297703"/>
                  </a:cubicBezTo>
                  <a:cubicBezTo>
                    <a:pt x="3656838" y="537448"/>
                    <a:pt x="4746975" y="1624726"/>
                    <a:pt x="5915597" y="1424130"/>
                  </a:cubicBezTo>
                  <a:cubicBezTo>
                    <a:pt x="6866001" y="1263443"/>
                    <a:pt x="7913942" y="-234458"/>
                    <a:pt x="9142953" y="31575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577625" y="2854784"/>
              <a:ext cx="9107329" cy="1503233"/>
            </a:xfrm>
            <a:custGeom>
              <a:avLst/>
              <a:gdLst>
                <a:gd name="connsiteX0" fmla="*/ 0 w 9107329"/>
                <a:gd name="connsiteY0" fmla="*/ 788337 h 1503233"/>
                <a:gd name="connsiteX1" fmla="*/ 2433733 w 9107329"/>
                <a:gd name="connsiteY1" fmla="*/ 283893 h 1503233"/>
                <a:gd name="connsiteX2" fmla="*/ 5897214 w 9107329"/>
                <a:gd name="connsiteY2" fmla="*/ 1480614 h 1503233"/>
                <a:gd name="connsiteX3" fmla="*/ 9107329 w 9107329"/>
                <a:gd name="connsiteY3" fmla="*/ 30528 h 150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07329" h="1503233">
                  <a:moveTo>
                    <a:pt x="0" y="788337"/>
                  </a:moveTo>
                  <a:cubicBezTo>
                    <a:pt x="0" y="788337"/>
                    <a:pt x="1280541" y="30147"/>
                    <a:pt x="2433733" y="283893"/>
                  </a:cubicBezTo>
                  <a:cubicBezTo>
                    <a:pt x="3598164" y="540116"/>
                    <a:pt x="4745069" y="1676734"/>
                    <a:pt x="5897214" y="1480614"/>
                  </a:cubicBezTo>
                  <a:cubicBezTo>
                    <a:pt x="6847808" y="1321356"/>
                    <a:pt x="7878318" y="-235600"/>
                    <a:pt x="9107329" y="3052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1598961" y="2761788"/>
              <a:ext cx="9071610" cy="1558068"/>
            </a:xfrm>
            <a:custGeom>
              <a:avLst/>
              <a:gdLst>
                <a:gd name="connsiteX0" fmla="*/ 0 w 9071610"/>
                <a:gd name="connsiteY0" fmla="*/ 726362 h 1558068"/>
                <a:gd name="connsiteX1" fmla="*/ 2369248 w 9071610"/>
                <a:gd name="connsiteY1" fmla="*/ 270210 h 1558068"/>
                <a:gd name="connsiteX2" fmla="*/ 5878830 w 9071610"/>
                <a:gd name="connsiteY2" fmla="*/ 1537225 h 1558068"/>
                <a:gd name="connsiteX3" fmla="*/ 9071610 w 9071610"/>
                <a:gd name="connsiteY3" fmla="*/ 29513 h 155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1610" h="1558068">
                  <a:moveTo>
                    <a:pt x="0" y="726362"/>
                  </a:moveTo>
                  <a:cubicBezTo>
                    <a:pt x="0" y="726362"/>
                    <a:pt x="1225963" y="3700"/>
                    <a:pt x="2369248" y="270210"/>
                  </a:cubicBezTo>
                  <a:cubicBezTo>
                    <a:pt x="3539490" y="543006"/>
                    <a:pt x="4743260" y="1728868"/>
                    <a:pt x="5878830" y="1537225"/>
                  </a:cubicBezTo>
                  <a:cubicBezTo>
                    <a:pt x="6829711" y="1379301"/>
                    <a:pt x="7842695" y="-236520"/>
                    <a:pt x="9071610" y="29513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1620202" y="2668806"/>
              <a:ext cx="9035891" cy="1613130"/>
            </a:xfrm>
            <a:custGeom>
              <a:avLst/>
              <a:gdLst>
                <a:gd name="connsiteX0" fmla="*/ 0 w 9035891"/>
                <a:gd name="connsiteY0" fmla="*/ 664467 h 1613130"/>
                <a:gd name="connsiteX1" fmla="*/ 2304764 w 9035891"/>
                <a:gd name="connsiteY1" fmla="*/ 256702 h 1613130"/>
                <a:gd name="connsiteX2" fmla="*/ 5860352 w 9035891"/>
                <a:gd name="connsiteY2" fmla="*/ 1593917 h 1613130"/>
                <a:gd name="connsiteX3" fmla="*/ 9035891 w 9035891"/>
                <a:gd name="connsiteY3" fmla="*/ 28578 h 161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35891" h="1613130">
                  <a:moveTo>
                    <a:pt x="0" y="664467"/>
                  </a:moveTo>
                  <a:cubicBezTo>
                    <a:pt x="0" y="664467"/>
                    <a:pt x="1171480" y="-22381"/>
                    <a:pt x="2304764" y="256702"/>
                  </a:cubicBezTo>
                  <a:cubicBezTo>
                    <a:pt x="3480721" y="546262"/>
                    <a:pt x="4741355" y="1781083"/>
                    <a:pt x="5860352" y="1593917"/>
                  </a:cubicBezTo>
                  <a:cubicBezTo>
                    <a:pt x="6811423" y="1437421"/>
                    <a:pt x="7806880" y="-237455"/>
                    <a:pt x="9035891" y="2857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1641538" y="2575939"/>
              <a:ext cx="9000172" cy="1668302"/>
            </a:xfrm>
            <a:custGeom>
              <a:avLst/>
              <a:gdLst>
                <a:gd name="connsiteX0" fmla="*/ 0 w 9000172"/>
                <a:gd name="connsiteY0" fmla="*/ 602458 h 1668302"/>
                <a:gd name="connsiteX1" fmla="*/ 2240280 w 9000172"/>
                <a:gd name="connsiteY1" fmla="*/ 243080 h 1668302"/>
                <a:gd name="connsiteX2" fmla="*/ 5841968 w 9000172"/>
                <a:gd name="connsiteY2" fmla="*/ 1650589 h 1668302"/>
                <a:gd name="connsiteX3" fmla="*/ 9000172 w 9000172"/>
                <a:gd name="connsiteY3" fmla="*/ 27719 h 1668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0172" h="1668302">
                  <a:moveTo>
                    <a:pt x="0" y="602458"/>
                  </a:moveTo>
                  <a:cubicBezTo>
                    <a:pt x="0" y="602458"/>
                    <a:pt x="1116902" y="-48385"/>
                    <a:pt x="2240280" y="243080"/>
                  </a:cubicBezTo>
                  <a:cubicBezTo>
                    <a:pt x="3421952" y="549689"/>
                    <a:pt x="4739545" y="1833279"/>
                    <a:pt x="5841968" y="1650589"/>
                  </a:cubicBezTo>
                  <a:cubicBezTo>
                    <a:pt x="6793325" y="1495522"/>
                    <a:pt x="7771257" y="-238409"/>
                    <a:pt x="9000172" y="27719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1662874" y="2482864"/>
              <a:ext cx="8964548" cy="1723703"/>
            </a:xfrm>
            <a:custGeom>
              <a:avLst/>
              <a:gdLst>
                <a:gd name="connsiteX0" fmla="*/ 0 w 8964548"/>
                <a:gd name="connsiteY0" fmla="*/ 540561 h 1723703"/>
                <a:gd name="connsiteX1" fmla="*/ 2175796 w 8964548"/>
                <a:gd name="connsiteY1" fmla="*/ 229570 h 1723703"/>
                <a:gd name="connsiteX2" fmla="*/ 5823585 w 8964548"/>
                <a:gd name="connsiteY2" fmla="*/ 1707373 h 1723703"/>
                <a:gd name="connsiteX3" fmla="*/ 8964549 w 8964548"/>
                <a:gd name="connsiteY3" fmla="*/ 26878 h 1723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4548" h="1723703">
                  <a:moveTo>
                    <a:pt x="0" y="540561"/>
                  </a:moveTo>
                  <a:cubicBezTo>
                    <a:pt x="0" y="540561"/>
                    <a:pt x="1062228" y="-74087"/>
                    <a:pt x="2175796" y="229570"/>
                  </a:cubicBezTo>
                  <a:cubicBezTo>
                    <a:pt x="3363087" y="553420"/>
                    <a:pt x="4737735" y="1885586"/>
                    <a:pt x="5823585" y="1707373"/>
                  </a:cubicBezTo>
                  <a:cubicBezTo>
                    <a:pt x="6775133" y="1553640"/>
                    <a:pt x="7735539" y="-239156"/>
                    <a:pt x="8964549" y="2687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684115" y="2389726"/>
              <a:ext cx="8928829" cy="1779288"/>
            </a:xfrm>
            <a:custGeom>
              <a:avLst/>
              <a:gdLst>
                <a:gd name="connsiteX0" fmla="*/ 0 w 8928829"/>
                <a:gd name="connsiteY0" fmla="*/ 478823 h 1779288"/>
                <a:gd name="connsiteX1" fmla="*/ 2111216 w 8928829"/>
                <a:gd name="connsiteY1" fmla="*/ 216218 h 1779288"/>
                <a:gd name="connsiteX2" fmla="*/ 5805012 w 8928829"/>
                <a:gd name="connsiteY2" fmla="*/ 1764221 h 1779288"/>
                <a:gd name="connsiteX3" fmla="*/ 8928830 w 8928829"/>
                <a:gd name="connsiteY3" fmla="*/ 26099 h 177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28829" h="1779288">
                  <a:moveTo>
                    <a:pt x="0" y="478823"/>
                  </a:moveTo>
                  <a:cubicBezTo>
                    <a:pt x="0" y="478823"/>
                    <a:pt x="1007459" y="-99535"/>
                    <a:pt x="2111216" y="216218"/>
                  </a:cubicBezTo>
                  <a:cubicBezTo>
                    <a:pt x="3304032" y="557404"/>
                    <a:pt x="4735735" y="1938053"/>
                    <a:pt x="5805012" y="1764221"/>
                  </a:cubicBezTo>
                  <a:cubicBezTo>
                    <a:pt x="6756940" y="1611917"/>
                    <a:pt x="7699820" y="-239934"/>
                    <a:pt x="8928830" y="26099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705451" y="2296638"/>
              <a:ext cx="8893016" cy="1834890"/>
            </a:xfrm>
            <a:custGeom>
              <a:avLst/>
              <a:gdLst>
                <a:gd name="connsiteX0" fmla="*/ 0 w 8893016"/>
                <a:gd name="connsiteY0" fmla="*/ 416939 h 1834890"/>
                <a:gd name="connsiteX1" fmla="*/ 2046732 w 8893016"/>
                <a:gd name="connsiteY1" fmla="*/ 202722 h 1834890"/>
                <a:gd name="connsiteX2" fmla="*/ 5786628 w 8893016"/>
                <a:gd name="connsiteY2" fmla="*/ 1821019 h 1834890"/>
                <a:gd name="connsiteX3" fmla="*/ 8893016 w 8893016"/>
                <a:gd name="connsiteY3" fmla="*/ 25366 h 183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3016" h="1834890">
                  <a:moveTo>
                    <a:pt x="0" y="416939"/>
                  </a:moveTo>
                  <a:cubicBezTo>
                    <a:pt x="0" y="416939"/>
                    <a:pt x="952691" y="-124938"/>
                    <a:pt x="2046732" y="202722"/>
                  </a:cubicBezTo>
                  <a:cubicBezTo>
                    <a:pt x="3244977" y="561528"/>
                    <a:pt x="4733925" y="1990279"/>
                    <a:pt x="5786628" y="1821019"/>
                  </a:cubicBezTo>
                  <a:cubicBezTo>
                    <a:pt x="6738652" y="1670143"/>
                    <a:pt x="7664101" y="-240667"/>
                    <a:pt x="8893016" y="25366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1726787" y="2203415"/>
              <a:ext cx="8857392" cy="1890742"/>
            </a:xfrm>
            <a:custGeom>
              <a:avLst/>
              <a:gdLst>
                <a:gd name="connsiteX0" fmla="*/ 0 w 8857392"/>
                <a:gd name="connsiteY0" fmla="*/ 355286 h 1890742"/>
                <a:gd name="connsiteX1" fmla="*/ 1982248 w 8857392"/>
                <a:gd name="connsiteY1" fmla="*/ 189455 h 1890742"/>
                <a:gd name="connsiteX2" fmla="*/ 5768245 w 8857392"/>
                <a:gd name="connsiteY2" fmla="*/ 1877952 h 1890742"/>
                <a:gd name="connsiteX3" fmla="*/ 8857393 w 8857392"/>
                <a:gd name="connsiteY3" fmla="*/ 24673 h 189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57392" h="1890742">
                  <a:moveTo>
                    <a:pt x="0" y="355286"/>
                  </a:moveTo>
                  <a:cubicBezTo>
                    <a:pt x="0" y="355286"/>
                    <a:pt x="897827" y="-149920"/>
                    <a:pt x="1982248" y="189455"/>
                  </a:cubicBezTo>
                  <a:cubicBezTo>
                    <a:pt x="3185922" y="566074"/>
                    <a:pt x="4732020" y="2042830"/>
                    <a:pt x="5768245" y="1877952"/>
                  </a:cubicBezTo>
                  <a:cubicBezTo>
                    <a:pt x="6720459" y="1728410"/>
                    <a:pt x="7628382" y="-241360"/>
                    <a:pt x="8857393" y="24673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748123" y="2110330"/>
              <a:ext cx="8821578" cy="1946617"/>
            </a:xfrm>
            <a:custGeom>
              <a:avLst/>
              <a:gdLst>
                <a:gd name="connsiteX0" fmla="*/ 0 w 8821578"/>
                <a:gd name="connsiteY0" fmla="*/ 293494 h 1946617"/>
                <a:gd name="connsiteX1" fmla="*/ 1917764 w 8821578"/>
                <a:gd name="connsiteY1" fmla="*/ 176051 h 1946617"/>
                <a:gd name="connsiteX2" fmla="*/ 5749766 w 8821578"/>
                <a:gd name="connsiteY2" fmla="*/ 1934842 h 1946617"/>
                <a:gd name="connsiteX3" fmla="*/ 8821579 w 8821578"/>
                <a:gd name="connsiteY3" fmla="*/ 24032 h 19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21578" h="1946617">
                  <a:moveTo>
                    <a:pt x="0" y="293494"/>
                  </a:moveTo>
                  <a:cubicBezTo>
                    <a:pt x="0" y="293494"/>
                    <a:pt x="842867" y="-174850"/>
                    <a:pt x="1917764" y="176051"/>
                  </a:cubicBezTo>
                  <a:cubicBezTo>
                    <a:pt x="3126677" y="570767"/>
                    <a:pt x="4730211" y="2095243"/>
                    <a:pt x="5749766" y="1934842"/>
                  </a:cubicBezTo>
                  <a:cubicBezTo>
                    <a:pt x="6702266" y="1786728"/>
                    <a:pt x="7592663" y="-242097"/>
                    <a:pt x="8821579" y="24032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1769363" y="2016957"/>
              <a:ext cx="8785955" cy="2002662"/>
            </a:xfrm>
            <a:custGeom>
              <a:avLst/>
              <a:gdLst>
                <a:gd name="connsiteX0" fmla="*/ 0 w 8785955"/>
                <a:gd name="connsiteY0" fmla="*/ 231895 h 2002662"/>
                <a:gd name="connsiteX1" fmla="*/ 1853279 w 8785955"/>
                <a:gd name="connsiteY1" fmla="*/ 162744 h 2002662"/>
                <a:gd name="connsiteX2" fmla="*/ 5731383 w 8785955"/>
                <a:gd name="connsiteY2" fmla="*/ 1991829 h 2002662"/>
                <a:gd name="connsiteX3" fmla="*/ 8785955 w 8785955"/>
                <a:gd name="connsiteY3" fmla="*/ 23393 h 200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85955" h="2002662">
                  <a:moveTo>
                    <a:pt x="0" y="231895"/>
                  </a:moveTo>
                  <a:cubicBezTo>
                    <a:pt x="0" y="231895"/>
                    <a:pt x="787908" y="-199492"/>
                    <a:pt x="1853279" y="162744"/>
                  </a:cubicBezTo>
                  <a:cubicBezTo>
                    <a:pt x="3067431" y="575652"/>
                    <a:pt x="4728305" y="2147754"/>
                    <a:pt x="5731383" y="1991829"/>
                  </a:cubicBezTo>
                  <a:cubicBezTo>
                    <a:pt x="6684074" y="1845144"/>
                    <a:pt x="7557040" y="-242640"/>
                    <a:pt x="8785955" y="23393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1790700" y="1912397"/>
              <a:ext cx="8750236" cy="2070069"/>
            </a:xfrm>
            <a:custGeom>
              <a:avLst/>
              <a:gdLst>
                <a:gd name="connsiteX0" fmla="*/ 0 w 8750236"/>
                <a:gd name="connsiteY0" fmla="*/ 181578 h 2070069"/>
                <a:gd name="connsiteX1" fmla="*/ 1788700 w 8750236"/>
                <a:gd name="connsiteY1" fmla="*/ 160814 h 2070069"/>
                <a:gd name="connsiteX2" fmla="*/ 5712905 w 8750236"/>
                <a:gd name="connsiteY2" fmla="*/ 2060099 h 2070069"/>
                <a:gd name="connsiteX3" fmla="*/ 8750236 w 8750236"/>
                <a:gd name="connsiteY3" fmla="*/ 34131 h 207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50236" h="2070069">
                  <a:moveTo>
                    <a:pt x="0" y="181578"/>
                  </a:moveTo>
                  <a:cubicBezTo>
                    <a:pt x="0" y="181578"/>
                    <a:pt x="732758" y="-212757"/>
                    <a:pt x="1788700" y="160814"/>
                  </a:cubicBezTo>
                  <a:cubicBezTo>
                    <a:pt x="3007900" y="592106"/>
                    <a:pt x="4726401" y="2211642"/>
                    <a:pt x="5712905" y="2060099"/>
                  </a:cubicBezTo>
                  <a:cubicBezTo>
                    <a:pt x="6665881" y="1914843"/>
                    <a:pt x="7521226" y="-231997"/>
                    <a:pt x="8750236" y="34131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812036" y="1788977"/>
              <a:ext cx="8714517" cy="2156395"/>
            </a:xfrm>
            <a:custGeom>
              <a:avLst/>
              <a:gdLst>
                <a:gd name="connsiteX0" fmla="*/ 0 w 8714517"/>
                <a:gd name="connsiteY0" fmla="*/ 150026 h 2156395"/>
                <a:gd name="connsiteX1" fmla="*/ 1724215 w 8714517"/>
                <a:gd name="connsiteY1" fmla="*/ 177649 h 2156395"/>
                <a:gd name="connsiteX2" fmla="*/ 5694522 w 8714517"/>
                <a:gd name="connsiteY2" fmla="*/ 2147229 h 2156395"/>
                <a:gd name="connsiteX3" fmla="*/ 8714518 w 8714517"/>
                <a:gd name="connsiteY3" fmla="*/ 63635 h 215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14517" h="2156395">
                  <a:moveTo>
                    <a:pt x="0" y="150026"/>
                  </a:moveTo>
                  <a:cubicBezTo>
                    <a:pt x="0" y="150026"/>
                    <a:pt x="676942" y="-205256"/>
                    <a:pt x="1724215" y="177649"/>
                  </a:cubicBezTo>
                  <a:cubicBezTo>
                    <a:pt x="2947607" y="629705"/>
                    <a:pt x="4724495" y="2294295"/>
                    <a:pt x="5694522" y="2147229"/>
                  </a:cubicBezTo>
                  <a:cubicBezTo>
                    <a:pt x="6647688" y="2003306"/>
                    <a:pt x="7485507" y="-202399"/>
                    <a:pt x="8714518" y="63635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1833276" y="1662116"/>
              <a:ext cx="8678894" cy="2246283"/>
            </a:xfrm>
            <a:custGeom>
              <a:avLst/>
              <a:gdLst>
                <a:gd name="connsiteX0" fmla="*/ 0 w 8678894"/>
                <a:gd name="connsiteY0" fmla="*/ 122011 h 2246283"/>
                <a:gd name="connsiteX1" fmla="*/ 1659731 w 8678894"/>
                <a:gd name="connsiteY1" fmla="*/ 198021 h 2246283"/>
                <a:gd name="connsiteX2" fmla="*/ 5676138 w 8678894"/>
                <a:gd name="connsiteY2" fmla="*/ 2237895 h 2246283"/>
                <a:gd name="connsiteX3" fmla="*/ 8678894 w 8678894"/>
                <a:gd name="connsiteY3" fmla="*/ 96675 h 2246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78894" h="2246283">
                  <a:moveTo>
                    <a:pt x="0" y="122011"/>
                  </a:moveTo>
                  <a:cubicBezTo>
                    <a:pt x="0" y="122011"/>
                    <a:pt x="622268" y="-197743"/>
                    <a:pt x="1659731" y="198021"/>
                  </a:cubicBezTo>
                  <a:cubicBezTo>
                    <a:pt x="2888742" y="666746"/>
                    <a:pt x="4722686" y="2380389"/>
                    <a:pt x="5676138" y="2237895"/>
                  </a:cubicBezTo>
                  <a:cubicBezTo>
                    <a:pt x="6629495" y="2095401"/>
                    <a:pt x="7449884" y="-169359"/>
                    <a:pt x="8678894" y="96675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676709" y="1070728"/>
            <a:ext cx="3001231" cy="923425"/>
            <a:chOff x="9730702" y="211219"/>
            <a:chExt cx="2374282" cy="701101"/>
          </a:xfrm>
        </p:grpSpPr>
        <p:pic>
          <p:nvPicPr>
            <p:cNvPr id="110" name="图片 109"/>
            <p:cNvPicPr>
              <a:picLocks noChangeAspect="1"/>
            </p:cNvPicPr>
            <p:nvPr userDrawn="1"/>
          </p:nvPicPr>
          <p:blipFill>
            <a:blip r:embed="rId3"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111" name="图片 110"/>
            <p:cNvPicPr>
              <a:picLocks noChangeAspect="1"/>
            </p:cNvPicPr>
            <p:nvPr/>
          </p:nvPicPr>
          <p:blipFill rotWithShape="1">
            <a:blip r:embed="rId5" cstate="screen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116" name="文本框 115"/>
          <p:cNvSpPr txBox="1"/>
          <p:nvPr/>
        </p:nvSpPr>
        <p:spPr>
          <a:xfrm>
            <a:off x="769029" y="2342623"/>
            <a:ext cx="8390173" cy="2176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4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面向电网调控的工业过程</a:t>
            </a:r>
            <a:endParaRPr lang="en-US" altLang="zh-CN" sz="4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4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建模和参数辨识</a:t>
            </a:r>
          </a:p>
        </p:txBody>
      </p:sp>
      <p:cxnSp>
        <p:nvCxnSpPr>
          <p:cNvPr id="117" name="直接连接符 116"/>
          <p:cNvCxnSpPr>
            <a:cxnSpLocks/>
          </p:cNvCxnSpPr>
          <p:nvPr/>
        </p:nvCxnSpPr>
        <p:spPr>
          <a:xfrm>
            <a:off x="676709" y="2107150"/>
            <a:ext cx="83901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877E25-DA99-74B1-EC15-DDC4A338D8EC}"/>
              </a:ext>
            </a:extLst>
          </p:cNvPr>
          <p:cNvGrpSpPr/>
          <p:nvPr/>
        </p:nvGrpSpPr>
        <p:grpSpPr>
          <a:xfrm>
            <a:off x="769029" y="6106421"/>
            <a:ext cx="2908911" cy="646331"/>
            <a:chOff x="1463403" y="5954834"/>
            <a:chExt cx="2908911" cy="646331"/>
          </a:xfrm>
        </p:grpSpPr>
        <p:sp>
          <p:nvSpPr>
            <p:cNvPr id="118" name="文本框 117"/>
            <p:cNvSpPr txBox="1"/>
            <p:nvPr/>
          </p:nvSpPr>
          <p:spPr>
            <a:xfrm>
              <a:off x="1463403" y="5954834"/>
              <a:ext cx="18590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zh-CN" b="1" dirty="0">
                <a:solidFill>
                  <a:prstClr val="black"/>
                </a:solidFill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solidFill>
                    <a:prstClr val="black"/>
                  </a:solidFill>
                  <a:cs typeface="+mn-ea"/>
                  <a:sym typeface="+mn-lt"/>
                </a:rPr>
                <a:t>吕睿可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 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2572031" y="6228280"/>
              <a:ext cx="18002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rPr>
                <a:t>清华大学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电机系</a:t>
              </a:r>
            </a:p>
          </p:txBody>
        </p:sp>
        <p:cxnSp>
          <p:nvCxnSpPr>
            <p:cNvPr id="120" name="直接连接符 119"/>
            <p:cNvCxnSpPr/>
            <p:nvPr/>
          </p:nvCxnSpPr>
          <p:spPr>
            <a:xfrm>
              <a:off x="2513224" y="6284039"/>
              <a:ext cx="0" cy="240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CC601-7129-4E41-8F55-52C3B7702D05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7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6317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86BB37-1125-5B27-2049-C2D011F654DF}"/>
              </a:ext>
            </a:extLst>
          </p:cNvPr>
          <p:cNvSpPr txBox="1"/>
          <p:nvPr/>
        </p:nvSpPr>
        <p:spPr>
          <a:xfrm>
            <a:off x="1137636" y="183730"/>
            <a:ext cx="865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研究背景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B25B03-381F-4090-8356-C0EC15E1ED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23208" y="1132626"/>
            <a:ext cx="10863022" cy="2308762"/>
          </a:xfrm>
          <a:prstGeom prst="rect">
            <a:avLst/>
          </a:prstGeom>
          <a:solidFill>
            <a:srgbClr val="F7E4FC"/>
          </a:solidFill>
          <a:ln w="9525">
            <a:noFill/>
            <a:prstDash val="dash"/>
          </a:ln>
          <a:effectLst/>
        </p:spPr>
        <p:txBody>
          <a:bodyPr wrap="square" lIns="144000" tIns="108000" rIns="144000" bIns="108000" anchor="ctr" anchorCtr="0">
            <a:noAutofit/>
          </a:bodyPr>
          <a:lstStyle>
            <a:defPPr>
              <a:defRPr lang="en-US"/>
            </a:defPPr>
            <a:lvl1pPr lvl="0" algn="just" hangingPunct="0">
              <a:lnSpc>
                <a:spcPct val="150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SzPct val="80000"/>
              <a:buFontTx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defRPr>
            </a:lvl1pPr>
          </a:lstStyle>
          <a:p>
            <a:pPr marL="0" marR="0" lvl="0" indent="0" algn="just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Pct val="80000"/>
              <a:buFontTx/>
              <a:buNone/>
              <a:tabLst/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sym typeface="Times New Roman" panose="02020603050405020304"/>
              </a:rPr>
              <a:t>新型电力系统下，源网荷储互动要求：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sym typeface="Times New Roman" panose="02020603050405020304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电力系统运行需要向“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源荷互动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”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的新模式转变，充分挖掘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负荷侧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灵活性资源；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Times New Roman" panose="02020603050405020304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构建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新型负荷管理体系，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以多类型负荷建模为理论基础、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需求响应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政策背景，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通过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监测、评估、优化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和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调控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等一系列手段实现</a:t>
            </a:r>
            <a:r>
              <a:rPr lang="zh-CN" altLang="en-US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sym typeface="Times New Roman" panose="02020603050405020304"/>
              </a:rPr>
              <a:t>电力供需的资源优化配置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。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Times New Roman" panose="02020603050405020304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D9B8EB7-9857-43E7-9554-009FBF698DA1}"/>
              </a:ext>
            </a:extLst>
          </p:cNvPr>
          <p:cNvSpPr txBox="1"/>
          <p:nvPr/>
        </p:nvSpPr>
        <p:spPr>
          <a:xfrm>
            <a:off x="1006203" y="5625621"/>
            <a:ext cx="1953128" cy="658257"/>
          </a:xfrm>
          <a:prstGeom prst="rect">
            <a:avLst/>
          </a:prstGeom>
          <a:solidFill>
            <a:srgbClr val="F7E4FC"/>
          </a:solidFill>
          <a:ln>
            <a:solidFill>
              <a:srgbClr val="580C6E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以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电力平衡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为核心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的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传统运行机制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charset="0"/>
            </a:endParaRPr>
          </a:p>
        </p:txBody>
      </p:sp>
      <p:graphicFrame>
        <p:nvGraphicFramePr>
          <p:cNvPr id="19" name="对象 7">
            <a:extLst>
              <a:ext uri="{FF2B5EF4-FFF2-40B4-BE49-F238E27FC236}">
                <a16:creationId xmlns:a16="http://schemas.microsoft.com/office/drawing/2014/main" id="{E398E308-C1C1-453C-8423-8FE6356096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238" y="3792451"/>
          <a:ext cx="5170081" cy="1673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201268" imgH="3429000" progId="Visio.Drawing.15">
                  <p:embed/>
                </p:oleObj>
              </mc:Choice>
              <mc:Fallback>
                <p:oleObj r:id="rId9" imgW="9201268" imgH="3429000" progId="Visio.Drawing.15">
                  <p:embed/>
                  <p:pic>
                    <p:nvPicPr>
                      <p:cNvPr id="19" name="对象 7">
                        <a:extLst>
                          <a:ext uri="{FF2B5EF4-FFF2-40B4-BE49-F238E27FC236}">
                            <a16:creationId xmlns:a16="http://schemas.microsoft.com/office/drawing/2014/main" id="{E398E308-C1C1-453C-8423-8FE6356096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707"/>
                      <a:stretch>
                        <a:fillRect/>
                      </a:stretch>
                    </p:blipFill>
                    <p:spPr bwMode="auto">
                      <a:xfrm>
                        <a:off x="798238" y="3792451"/>
                        <a:ext cx="5170081" cy="16732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EC34C959-05D2-4CED-BF0D-88BEECCF40F8}"/>
              </a:ext>
            </a:extLst>
          </p:cNvPr>
          <p:cNvSpPr txBox="1"/>
          <p:nvPr/>
        </p:nvSpPr>
        <p:spPr>
          <a:xfrm>
            <a:off x="3424844" y="5637613"/>
            <a:ext cx="2468445" cy="658257"/>
          </a:xfrm>
          <a:prstGeom prst="rect">
            <a:avLst/>
          </a:prstGeom>
          <a:solidFill>
            <a:srgbClr val="F7E4FC"/>
          </a:solidFill>
          <a:ln>
            <a:solidFill>
              <a:srgbClr val="580C6E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kern="0"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以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灵活性资源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与需求平衡为核心的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弹性运行机制</a:t>
            </a:r>
            <a:endParaRPr kumimoji="0" lang="zh-CN" altLang="zh-CN" sz="1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charset="0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B7E7C0B1-F3D1-477F-A182-57B2FC20B037}"/>
              </a:ext>
            </a:extLst>
          </p:cNvPr>
          <p:cNvSpPr/>
          <p:nvPr/>
        </p:nvSpPr>
        <p:spPr>
          <a:xfrm>
            <a:off x="3010819" y="5844255"/>
            <a:ext cx="372460" cy="2406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98A6D1C-415F-42B2-8CCE-3033848BE93B}"/>
              </a:ext>
            </a:extLst>
          </p:cNvPr>
          <p:cNvGrpSpPr/>
          <p:nvPr/>
        </p:nvGrpSpPr>
        <p:grpSpPr>
          <a:xfrm>
            <a:off x="6700058" y="3785544"/>
            <a:ext cx="706582" cy="1493035"/>
            <a:chOff x="9067074" y="3021459"/>
            <a:chExt cx="1125079" cy="3115597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FEB5ABE-6C75-43C8-A973-D5E95A5663A8}"/>
                </a:ext>
              </a:extLst>
            </p:cNvPr>
            <p:cNvGrpSpPr/>
            <p:nvPr/>
          </p:nvGrpSpPr>
          <p:grpSpPr>
            <a:xfrm>
              <a:off x="9067074" y="3021459"/>
              <a:ext cx="1070562" cy="3115597"/>
              <a:chOff x="6095872" y="1816447"/>
              <a:chExt cx="688317" cy="1743622"/>
            </a:xfrm>
          </p:grpSpPr>
          <p:pic>
            <p:nvPicPr>
              <p:cNvPr id="27" name="图片 26" descr="图片包含 游戏机&#10;&#10;描述已自动生成">
                <a:extLst>
                  <a:ext uri="{FF2B5EF4-FFF2-40B4-BE49-F238E27FC236}">
                    <a16:creationId xmlns:a16="http://schemas.microsoft.com/office/drawing/2014/main" id="{08414BD9-41AE-461B-A617-88A5E2B7C1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06329" y="2982209"/>
                <a:ext cx="577860" cy="577860"/>
              </a:xfrm>
              <a:prstGeom prst="rect">
                <a:avLst/>
              </a:prstGeom>
            </p:spPr>
          </p:pic>
          <p:pic>
            <p:nvPicPr>
              <p:cNvPr id="28" name="图片 27" descr="图片包含 游戏机, 文字, 标志, 食物&#10;&#10;描述已自动生成">
                <a:extLst>
                  <a:ext uri="{FF2B5EF4-FFF2-40B4-BE49-F238E27FC236}">
                    <a16:creationId xmlns:a16="http://schemas.microsoft.com/office/drawing/2014/main" id="{FD1B9D18-4347-4E5F-A7CD-AF69728E9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5872" y="1816447"/>
                <a:ext cx="688317" cy="573158"/>
              </a:xfrm>
              <a:prstGeom prst="rect">
                <a:avLst/>
              </a:prstGeom>
            </p:spPr>
          </p:pic>
        </p:grpSp>
        <p:pic>
          <p:nvPicPr>
            <p:cNvPr id="24" name="Picture 8" descr="矢量工厂图片设计图__其他_动漫动画_设计图库_昵图网nipic.com">
              <a:extLst>
                <a:ext uri="{FF2B5EF4-FFF2-40B4-BE49-F238E27FC236}">
                  <a16:creationId xmlns:a16="http://schemas.microsoft.com/office/drawing/2014/main" id="{35C43E08-CF57-4DCA-AD64-19E50C60A2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9023" b="84712" l="4590" r="93262">
                          <a14:foregroundMark x1="20020" y1="78571" x2="20020" y2="78571"/>
                          <a14:foregroundMark x1="9473" y1="78446" x2="9473" y2="78446"/>
                          <a14:foregroundMark x1="15234" y1="50752" x2="15234" y2="50752"/>
                          <a14:foregroundMark x1="17285" y1="52256" x2="17578" y2="60902"/>
                          <a14:foregroundMark x1="17578" y1="60902" x2="19727" y2="53885"/>
                          <a14:foregroundMark x1="19727" y1="53885" x2="16016" y2="51629"/>
                          <a14:foregroundMark x1="22754" y1="74687" x2="10254" y2="77444"/>
                          <a14:foregroundMark x1="10254" y1="77444" x2="21582" y2="79449"/>
                          <a14:foregroundMark x1="21582" y1="79449" x2="16699" y2="74561"/>
                          <a14:foregroundMark x1="11230" y1="72682" x2="9847" y2="73073"/>
                          <a14:foregroundMark x1="5296" y1="79455" x2="5812" y2="83026"/>
                          <a14:foregroundMark x1="7813" y1="78195" x2="7813" y2="78195"/>
                          <a14:foregroundMark x1="89844" y1="31454" x2="92383" y2="41729"/>
                          <a14:foregroundMark x1="92383" y1="41729" x2="91113" y2="62155"/>
                          <a14:foregroundMark x1="91113" y1="62155" x2="93262" y2="77820"/>
                          <a14:foregroundMark x1="93262" y1="77820" x2="84473" y2="80075"/>
                          <a14:foregroundMark x1="84473" y1="80075" x2="84277" y2="79950"/>
                          <a14:foregroundMark x1="10352" y1="72682" x2="9082" y2="73434"/>
                          <a14:foregroundMark x1="8887" y1="74185" x2="8887" y2="74185"/>
                          <a14:foregroundMark x1="8984" y1="73559" x2="8984" y2="73559"/>
                          <a14:foregroundMark x1="8398" y1="74060" x2="8398" y2="74060"/>
                          <a14:foregroundMark x1="8398" y1="73810" x2="8398" y2="73810"/>
                          <a14:foregroundMark x1="8496" y1="74185" x2="8496" y2="74185"/>
                          <a14:foregroundMark x1="8887" y1="73935" x2="8887" y2="73935"/>
                          <a14:foregroundMark x1="8594" y1="73559" x2="8594" y2="73559"/>
                          <a14:foregroundMark x1="8594" y1="73935" x2="8594" y2="73935"/>
                          <a14:foregroundMark x1="8594" y1="74060" x2="8594" y2="74060"/>
                          <a14:foregroundMark x1="9082" y1="73935" x2="8691" y2="73935"/>
                          <a14:foregroundMark x1="28223" y1="73058" x2="28223" y2="75063"/>
                          <a14:backgroundMark x1="6672" y1="74185" x2="3125" y2="78446"/>
                          <a14:backgroundMark x1="6984" y1="73810" x2="6672" y2="74185"/>
                          <a14:backgroundMark x1="7193" y1="73559" x2="6984" y2="73810"/>
                          <a14:backgroundMark x1="7715" y1="72932" x2="7193" y2="73559"/>
                          <a14:backgroundMark x1="8105" y1="73559" x2="8105" y2="73684"/>
                          <a14:backgroundMark x1="7715" y1="73308" x2="7715" y2="73308"/>
                          <a14:backgroundMark x1="8203" y1="73559" x2="8203" y2="73559"/>
                          <a14:backgroundMark x1="8496" y1="73183" x2="7520" y2="73434"/>
                          <a14:backgroundMark x1="8389" y1="73325" x2="8008" y2="73434"/>
                          <a14:backgroundMark x1="5371" y1="84586" x2="5566" y2="83960"/>
                          <a14:backgroundMark x1="6836" y1="84461" x2="4590" y2="8446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15"/>
            <a:stretch/>
          </p:blipFill>
          <p:spPr bwMode="auto">
            <a:xfrm>
              <a:off x="9067077" y="4016581"/>
              <a:ext cx="1125076" cy="10879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A8A31824-A9C6-4B42-802C-E87FADE572F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6023" y="3809374"/>
            <a:ext cx="1099417" cy="604222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28697D19-F570-4755-8329-5EE606652685}"/>
              </a:ext>
            </a:extLst>
          </p:cNvPr>
          <p:cNvSpPr txBox="1"/>
          <p:nvPr/>
        </p:nvSpPr>
        <p:spPr>
          <a:xfrm>
            <a:off x="7032257" y="5922233"/>
            <a:ext cx="3981969" cy="362792"/>
          </a:xfrm>
          <a:prstGeom prst="rect">
            <a:avLst/>
          </a:prstGeom>
          <a:solidFill>
            <a:srgbClr val="F7E4FC"/>
          </a:solidFill>
          <a:ln>
            <a:solidFill>
              <a:srgbClr val="580C6E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kern="0"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新型负荷管理系统</a:t>
            </a:r>
            <a:endParaRPr kumimoji="0" lang="zh-CN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4BA5CE-424E-4777-BBF7-90D61E8E735D}"/>
              </a:ext>
            </a:extLst>
          </p:cNvPr>
          <p:cNvSpPr txBox="1"/>
          <p:nvPr/>
        </p:nvSpPr>
        <p:spPr>
          <a:xfrm>
            <a:off x="7677898" y="4378762"/>
            <a:ext cx="1224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用户典型模式识别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8DF052-5FEB-48EF-9CA2-428B7151E681}"/>
              </a:ext>
            </a:extLst>
          </p:cNvPr>
          <p:cNvSpPr txBox="1"/>
          <p:nvPr/>
        </p:nvSpPr>
        <p:spPr>
          <a:xfrm>
            <a:off x="7682060" y="5099562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用户用能过程建模</a:t>
            </a:r>
          </a:p>
        </p:txBody>
      </p:sp>
      <p:pic>
        <p:nvPicPr>
          <p:cNvPr id="51" name="Picture 62">
            <a:extLst>
              <a:ext uri="{FF2B5EF4-FFF2-40B4-BE49-F238E27FC236}">
                <a16:creationId xmlns:a16="http://schemas.microsoft.com/office/drawing/2014/main" id="{7B37EE89-BB8C-4DF9-B231-115B16D6DF96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36"/>
          <a:stretch/>
        </p:blipFill>
        <p:spPr bwMode="auto">
          <a:xfrm>
            <a:off x="7649794" y="4616843"/>
            <a:ext cx="1099417" cy="495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243FCD-B2D6-4FAC-BD33-C1B35AF38270}"/>
              </a:ext>
            </a:extLst>
          </p:cNvPr>
          <p:cNvSpPr txBox="1"/>
          <p:nvPr/>
        </p:nvSpPr>
        <p:spPr>
          <a:xfrm>
            <a:off x="7179551" y="535315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DEC9FB"/>
                </a:highlight>
                <a:uLnTx/>
                <a:uFillTx/>
                <a:latin typeface="Arial"/>
                <a:ea typeface="微软雅黑"/>
                <a:cs typeface="+mn-cs"/>
              </a:rPr>
              <a:t>多元负荷建模</a:t>
            </a: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DDB8AC64-0731-4D7B-968F-661375D444A3}"/>
              </a:ext>
            </a:extLst>
          </p:cNvPr>
          <p:cNvSpPr/>
          <p:nvPr/>
        </p:nvSpPr>
        <p:spPr>
          <a:xfrm>
            <a:off x="7404668" y="4044729"/>
            <a:ext cx="165338" cy="10548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19409D5-A652-4129-84F8-21EDC911CEA9}"/>
              </a:ext>
            </a:extLst>
          </p:cNvPr>
          <p:cNvSpPr/>
          <p:nvPr/>
        </p:nvSpPr>
        <p:spPr>
          <a:xfrm>
            <a:off x="9150209" y="4757709"/>
            <a:ext cx="841363" cy="479568"/>
          </a:xfrm>
          <a:prstGeom prst="roundRect">
            <a:avLst/>
          </a:prstGeom>
          <a:solidFill>
            <a:srgbClr val="F7E4FC"/>
          </a:solidFill>
          <a:ln w="6350" cmpd="sng">
            <a:noFill/>
            <a:prstDash val="soli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风光储热协同优化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E6CA2146-BFD5-4315-96EF-7B0936DC8B87}"/>
              </a:ext>
            </a:extLst>
          </p:cNvPr>
          <p:cNvSpPr/>
          <p:nvPr/>
        </p:nvSpPr>
        <p:spPr>
          <a:xfrm>
            <a:off x="9150210" y="4129499"/>
            <a:ext cx="841363" cy="401933"/>
          </a:xfrm>
          <a:prstGeom prst="roundRect">
            <a:avLst/>
          </a:prstGeom>
          <a:solidFill>
            <a:srgbClr val="F7E4FC"/>
          </a:solidFill>
          <a:ln w="6350" cmpd="sng">
            <a:noFill/>
            <a:prstDash val="soli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智能电表动态检测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5877EB2-3188-434B-9779-3B8F9D13D47F}"/>
              </a:ext>
            </a:extLst>
          </p:cNvPr>
          <p:cNvSpPr/>
          <p:nvPr/>
        </p:nvSpPr>
        <p:spPr>
          <a:xfrm>
            <a:off x="10221602" y="4115721"/>
            <a:ext cx="841364" cy="410743"/>
          </a:xfrm>
          <a:prstGeom prst="roundRect">
            <a:avLst/>
          </a:prstGeom>
          <a:solidFill>
            <a:srgbClr val="F7E4FC"/>
          </a:solidFill>
          <a:ln w="6350" cmpd="sng">
            <a:noFill/>
            <a:prstDash val="soli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需求响应潜力评估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A176459D-EB33-4E1F-8B6C-37B268BDFA55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28517" r="28517"/>
          <a:stretch>
            <a:fillRect/>
          </a:stretch>
        </p:blipFill>
        <p:spPr>
          <a:xfrm>
            <a:off x="9637123" y="5676473"/>
            <a:ext cx="368754" cy="25747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E32D6473-BDF4-4B15-8EF2-0687DBFD149F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28517" r="28517"/>
          <a:stretch>
            <a:fillRect/>
          </a:stretch>
        </p:blipFill>
        <p:spPr>
          <a:xfrm>
            <a:off x="7649794" y="5708481"/>
            <a:ext cx="368754" cy="257470"/>
          </a:xfrm>
          <a:prstGeom prst="rect">
            <a:avLst/>
          </a:prstGeom>
        </p:spPr>
      </p:pic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C08D8AC1-31BB-40C8-AD03-0DB2D947F05D}"/>
              </a:ext>
            </a:extLst>
          </p:cNvPr>
          <p:cNvSpPr/>
          <p:nvPr/>
        </p:nvSpPr>
        <p:spPr>
          <a:xfrm>
            <a:off x="10192107" y="4757709"/>
            <a:ext cx="841363" cy="479568"/>
          </a:xfrm>
          <a:prstGeom prst="roundRect">
            <a:avLst/>
          </a:prstGeom>
          <a:solidFill>
            <a:srgbClr val="F7E4FC"/>
          </a:solidFill>
          <a:ln w="6350" cmpd="sng">
            <a:noFill/>
            <a:prstDash val="soli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可调负荷精准调控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4E5AAA6-531E-40C3-90C5-5FE8FF38FF02}"/>
              </a:ext>
            </a:extLst>
          </p:cNvPr>
          <p:cNvSpPr txBox="1"/>
          <p:nvPr/>
        </p:nvSpPr>
        <p:spPr>
          <a:xfrm>
            <a:off x="9283686" y="5347020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DEC9FB"/>
                </a:highlight>
                <a:uLnTx/>
                <a:uFillTx/>
                <a:latin typeface="Arial"/>
                <a:ea typeface="微软雅黑"/>
                <a:cs typeface="+mn-cs"/>
              </a:rPr>
              <a:t>多种手段协同管理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F8F818E-99FA-4B03-82D9-3922706C6039}"/>
              </a:ext>
            </a:extLst>
          </p:cNvPr>
          <p:cNvSpPr txBox="1"/>
          <p:nvPr/>
        </p:nvSpPr>
        <p:spPr>
          <a:xfrm>
            <a:off x="8018548" y="5619315"/>
            <a:ext cx="1157763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理论基础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2EF0FE6-5617-4B84-B30F-067D41D61C8F}"/>
              </a:ext>
            </a:extLst>
          </p:cNvPr>
          <p:cNvSpPr txBox="1"/>
          <p:nvPr/>
        </p:nvSpPr>
        <p:spPr>
          <a:xfrm>
            <a:off x="10033906" y="5595295"/>
            <a:ext cx="1157763" cy="2616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技术支撑</a:t>
            </a:r>
          </a:p>
        </p:txBody>
      </p:sp>
    </p:spTree>
    <p:extLst>
      <p:ext uri="{BB962C8B-B14F-4D97-AF65-F5344CB8AC3E}">
        <p14:creationId xmlns:p14="http://schemas.microsoft.com/office/powerpoint/2010/main" val="236042191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8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6317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86BB37-1125-5B27-2049-C2D011F654DF}"/>
              </a:ext>
            </a:extLst>
          </p:cNvPr>
          <p:cNvSpPr txBox="1"/>
          <p:nvPr/>
        </p:nvSpPr>
        <p:spPr>
          <a:xfrm>
            <a:off x="1137636" y="183730"/>
            <a:ext cx="865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研究背景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B25B03-381F-4090-8356-C0EC15E1ED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23208" y="1132626"/>
            <a:ext cx="10863022" cy="1206537"/>
          </a:xfrm>
          <a:prstGeom prst="rect">
            <a:avLst/>
          </a:prstGeom>
          <a:solidFill>
            <a:srgbClr val="F7E4FC"/>
          </a:solidFill>
          <a:ln w="9525">
            <a:noFill/>
            <a:prstDash val="dash"/>
          </a:ln>
          <a:effectLst/>
        </p:spPr>
        <p:txBody>
          <a:bodyPr wrap="square" lIns="144000" tIns="108000" rIns="144000" bIns="108000" anchor="ctr" anchorCtr="0">
            <a:noAutofit/>
          </a:bodyPr>
          <a:lstStyle>
            <a:defPPr>
              <a:defRPr lang="en-US"/>
            </a:defPPr>
            <a:lvl1pPr lvl="0" algn="just" hangingPunct="0">
              <a:lnSpc>
                <a:spcPct val="150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SzPct val="80000"/>
              <a:buFontTx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defRPr>
            </a:lvl1pPr>
          </a:lstStyle>
          <a:p>
            <a:pPr lvl="0">
              <a:spcBef>
                <a:spcPts val="0"/>
              </a:spcBef>
              <a:buClr>
                <a:prstClr val="white">
                  <a:lumMod val="50000"/>
                </a:prstClr>
              </a:buClr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lang="zh-CN" altLang="en-US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为了在工业负荷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管理中平衡电网需求与关键生产环节受影响程度，需要通过建模准确描述工业生产过程，包括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操作单元之间的依赖关系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以及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能源和资源的动态流动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Times New Roman" panose="02020603050405020304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56A167F8-A45D-47EB-938D-B84A907859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652" y="2461494"/>
            <a:ext cx="5176629" cy="3772524"/>
          </a:xfrm>
          <a:prstGeom prst="rect">
            <a:avLst/>
          </a:prstGeom>
        </p:spPr>
      </p:pic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E90E2053-CE4F-47E2-9578-87B96347F3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82167" y="6382025"/>
            <a:ext cx="3680461" cy="339450"/>
          </a:xfrm>
          <a:prstGeom prst="roundRect">
            <a:avLst/>
          </a:prstGeom>
          <a:solidFill>
            <a:srgbClr val="7030A0"/>
          </a:solidFill>
          <a:ln>
            <a:noFill/>
            <a:prstDash val="dash"/>
          </a:ln>
        </p:spPr>
        <p:txBody>
          <a:bodyPr wrap="square" tIns="18000" bIns="18000">
            <a:spAutoFit/>
          </a:bodyPr>
          <a:lstStyle>
            <a:lvl1pPr marL="0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39775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38555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94485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49780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06345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275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205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3500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4755">
              <a:spcAft>
                <a:spcPts val="800"/>
              </a:spcAft>
              <a:defRPr/>
            </a:pPr>
            <a:r>
              <a:rPr lang="zh-CN" altLang="en-US" b="1" dirty="0">
                <a:solidFill>
                  <a:srgbClr val="FFFFFF"/>
                </a:solidFill>
              </a:rPr>
              <a:t>水泥生产过程中各单元之间的依赖关系</a:t>
            </a:r>
          </a:p>
        </p:txBody>
      </p:sp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B7ED64F2-F24E-4129-9909-9E9A286BC21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093996" y="6382025"/>
            <a:ext cx="3680461" cy="339450"/>
          </a:xfrm>
          <a:prstGeom prst="roundRect">
            <a:avLst/>
          </a:prstGeom>
          <a:solidFill>
            <a:srgbClr val="7030A0"/>
          </a:solidFill>
          <a:ln>
            <a:noFill/>
            <a:prstDash val="dash"/>
          </a:ln>
        </p:spPr>
        <p:txBody>
          <a:bodyPr wrap="square" tIns="18000" bIns="18000">
            <a:spAutoFit/>
          </a:bodyPr>
          <a:lstStyle>
            <a:lvl1pPr marL="0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39775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38555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94485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49780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06345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275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205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3500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4755">
              <a:spcAft>
                <a:spcPts val="800"/>
              </a:spcAft>
              <a:defRPr/>
            </a:pPr>
            <a:r>
              <a:rPr lang="zh-CN" altLang="en-US" b="1" dirty="0">
                <a:solidFill>
                  <a:srgbClr val="FFFFFF"/>
                </a:solidFill>
              </a:rPr>
              <a:t>石化生产过程的热量和产物流动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ABE3120-4876-4AFF-8A00-6DA3084331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0653" y="2631980"/>
            <a:ext cx="4345732" cy="360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871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37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6317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86BB37-1125-5B27-2049-C2D011F654DF}"/>
              </a:ext>
            </a:extLst>
          </p:cNvPr>
          <p:cNvSpPr txBox="1"/>
          <p:nvPr/>
        </p:nvSpPr>
        <p:spPr>
          <a:xfrm>
            <a:off x="1137636" y="183730"/>
            <a:ext cx="865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研究背景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-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工业过程建模</a:t>
            </a:r>
            <a:endParaRPr lang="zh-CN" altLang="en-US" sz="3600" b="1" spc="300" dirty="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B25B03-381F-4090-8356-C0EC15E1ED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77133" y="1069552"/>
            <a:ext cx="10863022" cy="553975"/>
          </a:xfrm>
          <a:prstGeom prst="rect">
            <a:avLst/>
          </a:prstGeom>
          <a:solidFill>
            <a:srgbClr val="F7E4FC"/>
          </a:solidFill>
          <a:ln w="9525">
            <a:noFill/>
            <a:prstDash val="dash"/>
          </a:ln>
          <a:effectLst/>
        </p:spPr>
        <p:txBody>
          <a:bodyPr wrap="square" lIns="144000" tIns="108000" rIns="144000" bIns="108000" anchor="ctr" anchorCtr="0">
            <a:noAutofit/>
          </a:bodyPr>
          <a:lstStyle>
            <a:defPPr>
              <a:defRPr lang="en-US"/>
            </a:defPPr>
            <a:lvl1pPr lvl="0" algn="just" hangingPunct="0">
              <a:lnSpc>
                <a:spcPct val="150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SzPct val="80000"/>
              <a:buFontTx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defRPr>
            </a:lvl1pPr>
          </a:lstStyle>
          <a:p>
            <a:pPr lvl="0">
              <a:spcBef>
                <a:spcPts val="0"/>
              </a:spcBef>
              <a:buClr>
                <a:prstClr val="white">
                  <a:lumMod val="50000"/>
                </a:prstClr>
              </a:buClr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lang="zh-CN" altLang="en-US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面向不同类型的工业过程，工业工程等领域已有成熟的数学模型进行精细化描述。</a:t>
            </a:r>
            <a:endParaRPr lang="en-US" altLang="zh-CN" sz="2200" dirty="0">
              <a:solidFill>
                <a:prstClr val="black"/>
              </a:solidFill>
              <a:latin typeface="Arial"/>
              <a:ea typeface="微软雅黑" panose="020B0503020204020204" pitchFamily="34" charset="-122"/>
              <a:cs typeface="+mn-cs"/>
              <a:sym typeface="Times New Roman" panose="02020603050405020304"/>
            </a:endParaRPr>
          </a:p>
        </p:txBody>
      </p:sp>
      <p:sp>
        <p:nvSpPr>
          <p:cNvPr id="13" name="圆角矩形 113">
            <a:extLst>
              <a:ext uri="{FF2B5EF4-FFF2-40B4-BE49-F238E27FC236}">
                <a16:creationId xmlns:a16="http://schemas.microsoft.com/office/drawing/2014/main" id="{5BED020D-FDC3-4DBE-BC15-8A18B7EC227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388" y="4156949"/>
            <a:ext cx="5365115" cy="2565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algn="ctr">
            <a:noFill/>
            <a:miter lim="800000"/>
          </a:ln>
        </p:spPr>
        <p:txBody>
          <a:bodyPr anchor="ctr"/>
          <a:lstStyle/>
          <a:p>
            <a:pPr lvl="0" algn="ctr" defTabSz="653415">
              <a:buClrTx/>
              <a:buSzTx/>
              <a:buFontTx/>
              <a:defRPr/>
            </a:pPr>
            <a:endParaRPr lang="zh-CN" altLang="en-US" sz="1800" b="1" kern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圆角矩形 113">
            <a:extLst>
              <a:ext uri="{FF2B5EF4-FFF2-40B4-BE49-F238E27FC236}">
                <a16:creationId xmlns:a16="http://schemas.microsoft.com/office/drawing/2014/main" id="{9C45EDCC-1E9F-4112-9C2C-FF95C182F3F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77133" y="1876029"/>
            <a:ext cx="5374005" cy="2301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algn="ctr">
            <a:noFill/>
            <a:miter lim="800000"/>
          </a:ln>
        </p:spPr>
        <p:txBody>
          <a:bodyPr anchor="ctr"/>
          <a:lstStyle/>
          <a:p>
            <a:pPr lvl="0" algn="ctr" defTabSz="653415">
              <a:buClrTx/>
              <a:buSzTx/>
              <a:buFontTx/>
              <a:defRPr/>
            </a:pPr>
            <a:endParaRPr lang="zh-CN" altLang="en-US" sz="1800" b="1" kern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6C3E381-1E8A-47ED-9941-C27C0148998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797783" y="4671934"/>
            <a:ext cx="1521460" cy="110553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777DA54-1F38-468B-B4F3-9570F236B71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83" y="2362439"/>
            <a:ext cx="1744980" cy="106997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342C93B-8505-490F-B8BE-27646EF476A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080483" y="1843644"/>
            <a:ext cx="3396586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cs typeface="+mn-ea"/>
                <a:sym typeface="+mn-ea"/>
              </a:rPr>
              <a:t>工业过程用能约束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640D05-1E5C-4B06-9137-515F537EFDD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85388" y="3452099"/>
            <a:ext cx="205803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ea"/>
              </a:rPr>
              <a:t>电解铝过程中的</a:t>
            </a:r>
            <a:endParaRPr lang="en-US" altLang="zh-CN" sz="1600" b="1" dirty="0">
              <a:solidFill>
                <a:schemeClr val="tx1"/>
              </a:solidFill>
              <a:cs typeface="+mn-ea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ea"/>
              </a:rPr>
              <a:t>电解槽负荷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EEF4A9B-7223-49C1-9627-2D7B0AF5761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6173" y="5936219"/>
            <a:ext cx="2127250" cy="358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ea"/>
              </a:rPr>
              <a:t>炼钢过程中的</a:t>
            </a:r>
            <a:endParaRPr lang="en-US" altLang="zh-CN" sz="1600" b="1" dirty="0">
              <a:solidFill>
                <a:schemeClr val="tx1"/>
              </a:solidFill>
              <a:cs typeface="+mn-ea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+mn-ea"/>
                <a:sym typeface="+mn-ea"/>
              </a:rPr>
              <a:t>电弧炉负荷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370D165-F40C-4329-A465-BA4164A4BBE6}"/>
              </a:ext>
            </a:extLst>
          </p:cNvPr>
          <p:cNvGrpSpPr/>
          <p:nvPr/>
        </p:nvGrpSpPr>
        <p:grpSpPr>
          <a:xfrm>
            <a:off x="2575709" y="2218111"/>
            <a:ext cx="2972568" cy="1832304"/>
            <a:chOff x="4484" y="4562"/>
            <a:chExt cx="8304" cy="4668"/>
          </a:xfrm>
        </p:grpSpPr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034ED05B-C819-41A1-9B5B-920835EDDDFC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1"/>
              </p:custDataLst>
            </p:nvPr>
          </p:nvGraphicFramePr>
          <p:xfrm>
            <a:off x="7766" y="4562"/>
            <a:ext cx="2987" cy="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1002665" imgH="241300" progId="Equation.DSMT4">
                    <p:embed/>
                  </p:oleObj>
                </mc:Choice>
                <mc:Fallback>
                  <p:oleObj name="Equation" r:id="rId41" imgW="1002665" imgH="241300" progId="Equation.DSMT4">
                    <p:embed/>
                    <p:pic>
                      <p:nvPicPr>
                        <p:cNvPr id="52" name="对象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6" y="4562"/>
                          <a:ext cx="2987" cy="62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4F341A9A-62DC-4992-A979-1D7DADFCB3EE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2"/>
              </p:custDataLst>
            </p:nvPr>
          </p:nvGraphicFramePr>
          <p:xfrm>
            <a:off x="7310" y="5374"/>
            <a:ext cx="4369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1524000" imgH="241300" progId="Equation.DSMT4">
                    <p:embed/>
                  </p:oleObj>
                </mc:Choice>
                <mc:Fallback>
                  <p:oleObj name="Equation" r:id="rId43" imgW="1524000" imgH="241300" progId="Equation.DSMT4">
                    <p:embed/>
                    <p:pic>
                      <p:nvPicPr>
                        <p:cNvPr id="53" name="对象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0" y="5374"/>
                          <a:ext cx="4369" cy="61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923F9006-5BB5-42BA-B8C4-98DB7EFC45BC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7177" y="6122"/>
            <a:ext cx="4719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1637665" imgH="254000" progId="Equation.DSMT4">
                    <p:embed/>
                  </p:oleObj>
                </mc:Choice>
                <mc:Fallback>
                  <p:oleObj name="Equation" r:id="rId45" imgW="1637665" imgH="254000" progId="Equation.DSMT4">
                    <p:embed/>
                    <p:pic>
                      <p:nvPicPr>
                        <p:cNvPr id="58" name="对象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7" y="6122"/>
                          <a:ext cx="4719" cy="63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60CE2A5A-683D-437B-8782-8FB526EE4DE4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4"/>
              </p:custDataLst>
            </p:nvPr>
          </p:nvGraphicFramePr>
          <p:xfrm>
            <a:off x="6787" y="6769"/>
            <a:ext cx="6001" cy="10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2425700" imgH="431800" progId="Equation.DSMT4">
                    <p:embed/>
                  </p:oleObj>
                </mc:Choice>
                <mc:Fallback>
                  <p:oleObj name="Equation" r:id="rId47" imgW="2425700" imgH="431800" progId="Equation.DSMT4">
                    <p:embed/>
                    <p:pic>
                      <p:nvPicPr>
                        <p:cNvPr id="59" name="对象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7" y="6769"/>
                          <a:ext cx="6001" cy="106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0C77BB6C-2C86-4F2A-88CF-244CC9770447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5"/>
              </p:custDataLst>
            </p:nvPr>
          </p:nvGraphicFramePr>
          <p:xfrm>
            <a:off x="7310" y="7831"/>
            <a:ext cx="4875" cy="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9" imgW="1574800" imgH="254000" progId="Equation.DSMT4">
                    <p:embed/>
                  </p:oleObj>
                </mc:Choice>
                <mc:Fallback>
                  <p:oleObj name="Equation" r:id="rId49" imgW="1574800" imgH="254000" progId="Equation.DSMT4">
                    <p:embed/>
                    <p:pic>
                      <p:nvPicPr>
                        <p:cNvPr id="60" name="对象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0" y="7831"/>
                          <a:ext cx="4875" cy="6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7133645B-083B-49FC-AA0F-19F25D4ED82D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8298" y="8608"/>
            <a:ext cx="2068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1" imgW="698500" imgH="254000" progId="Equation.DSMT4">
                    <p:embed/>
                  </p:oleObj>
                </mc:Choice>
                <mc:Fallback>
                  <p:oleObj name="Equation" r:id="rId51" imgW="698500" imgH="254000" progId="Equation.DSMT4">
                    <p:embed/>
                    <p:pic>
                      <p:nvPicPr>
                        <p:cNvPr id="61" name="对象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8" y="8608"/>
                          <a:ext cx="2068" cy="61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8A57645-ED67-4614-B90B-0271271894DA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484" y="4672"/>
              <a:ext cx="2177" cy="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00" b="1" dirty="0">
                  <a:latin typeface="+mn-ea"/>
                  <a:cs typeface="Times New Roman" panose="02020603050405020304" pitchFamily="18" charset="0"/>
                </a:rPr>
                <a:t>功率约束：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09F7944-080A-435F-ADCF-F8E305C920A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509" y="5410"/>
              <a:ext cx="2177" cy="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00" b="1" dirty="0">
                  <a:latin typeface="+mn-ea"/>
                  <a:cs typeface="Times New Roman" panose="02020603050405020304" pitchFamily="18" charset="0"/>
                </a:rPr>
                <a:t>爬坡约束：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1576098-EDA7-412D-9B17-D4EDB5487529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4484" y="6157"/>
              <a:ext cx="3085" cy="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00" b="1" dirty="0">
                  <a:latin typeface="+mn-ea"/>
                  <a:cs typeface="Times New Roman" panose="02020603050405020304" pitchFamily="18" charset="0"/>
                </a:rPr>
                <a:t>状态稳定约束：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4FDEA31-250B-4BD3-B7C3-7FA12D0533F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4509" y="7008"/>
              <a:ext cx="2177" cy="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00" b="1" dirty="0">
                  <a:latin typeface="+mn-ea"/>
                  <a:cs typeface="Times New Roman" panose="02020603050405020304" pitchFamily="18" charset="0"/>
                </a:rPr>
                <a:t>产量约束：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F26DA0D-7B48-489C-BA32-DE8947F80E32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509" y="7828"/>
              <a:ext cx="3085" cy="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00" b="1" dirty="0">
                  <a:latin typeface="+mn-ea"/>
                  <a:cs typeface="Times New Roman" panose="02020603050405020304" pitchFamily="18" charset="0"/>
                </a:rPr>
                <a:t>功率平衡约束：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B29D312-6DB2-47EB-BB79-407B0B87CBA9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4509" y="8606"/>
              <a:ext cx="3537" cy="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00" b="1" dirty="0">
                  <a:latin typeface="+mn-ea"/>
                  <a:cs typeface="Times New Roman" panose="02020603050405020304" pitchFamily="18" charset="0"/>
                </a:rPr>
                <a:t>联络线功率约束：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98F0148-BF13-4434-845D-CD05E655140B}"/>
              </a:ext>
            </a:extLst>
          </p:cNvPr>
          <p:cNvGrpSpPr/>
          <p:nvPr/>
        </p:nvGrpSpPr>
        <p:grpSpPr>
          <a:xfrm>
            <a:off x="2542054" y="4294109"/>
            <a:ext cx="3467809" cy="2438311"/>
            <a:chOff x="7184" y="5698"/>
            <a:chExt cx="5461" cy="3840"/>
          </a:xfrm>
        </p:grpSpPr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E70C3111-F1F5-418B-B9C5-537F836C164E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11"/>
              </p:custDataLst>
            </p:nvPr>
          </p:nvGraphicFramePr>
          <p:xfrm>
            <a:off x="9229" y="5698"/>
            <a:ext cx="3324" cy="8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3" imgW="2070100" imgH="508000" progId="Equation.DSMT4">
                    <p:embed/>
                  </p:oleObj>
                </mc:Choice>
                <mc:Fallback>
                  <p:oleObj name="Equation" r:id="rId53" imgW="2070100" imgH="508000" progId="Equation.DSMT4">
                    <p:embed/>
                    <p:pic>
                      <p:nvPicPr>
                        <p:cNvPr id="76" name="对象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29" y="5698"/>
                          <a:ext cx="3324" cy="81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72C55655-34CD-4F67-B137-306470CD6CCB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12"/>
              </p:custDataLst>
            </p:nvPr>
          </p:nvGraphicFramePr>
          <p:xfrm>
            <a:off x="9183" y="6603"/>
            <a:ext cx="3312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5" imgW="1752600" imgH="254000" progId="Equation.DSMT4">
                    <p:embed/>
                  </p:oleObj>
                </mc:Choice>
                <mc:Fallback>
                  <p:oleObj name="Equation" r:id="rId55" imgW="1752600" imgH="254000" progId="Equation.DSMT4">
                    <p:embed/>
                    <p:pic>
                      <p:nvPicPr>
                        <p:cNvPr id="78" name="对象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83" y="6603"/>
                          <a:ext cx="3312" cy="41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131B8813-7EE3-403E-82D2-32443C9C16D1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13"/>
              </p:custDataLst>
            </p:nvPr>
          </p:nvGraphicFramePr>
          <p:xfrm>
            <a:off x="9173" y="7127"/>
            <a:ext cx="3472" cy="1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7" imgW="1892300" imgH="711200" progId="Equation.DSMT4">
                    <p:embed/>
                  </p:oleObj>
                </mc:Choice>
                <mc:Fallback>
                  <p:oleObj name="Equation" r:id="rId57" imgW="1892300" imgH="711200" progId="Equation.DSMT4">
                    <p:embed/>
                    <p:pic>
                      <p:nvPicPr>
                        <p:cNvPr id="80" name="对象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73" y="7127"/>
                          <a:ext cx="3472" cy="115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4FA2A961-E05C-4CAD-B632-8677D4F92D8A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8253" y="8457"/>
            <a:ext cx="4392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9" imgW="2551430" imgH="317500" progId="Equation.DSMT4">
                    <p:embed/>
                  </p:oleObj>
                </mc:Choice>
                <mc:Fallback>
                  <p:oleObj name="Equation" r:id="rId59" imgW="2551430" imgH="317500" progId="Equation.DSMT4">
                    <p:embed/>
                    <p:pic>
                      <p:nvPicPr>
                        <p:cNvPr id="82" name="对象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3" y="8457"/>
                          <a:ext cx="4392" cy="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0B2FF3BF-9141-4E9B-BE99-C3459FBB662F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9229" y="9082"/>
            <a:ext cx="129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1" imgW="698500" imgH="254000" progId="Equation.DSMT4">
                    <p:embed/>
                  </p:oleObj>
                </mc:Choice>
                <mc:Fallback>
                  <p:oleObj name="Equation" r:id="rId61" imgW="698500" imgH="254000" progId="Equation.DSMT4">
                    <p:embed/>
                    <p:pic>
                      <p:nvPicPr>
                        <p:cNvPr id="84" name="对象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29" y="9082"/>
                          <a:ext cx="1298" cy="4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AB84799F-7B07-4995-8359-ACCCEC86E14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240" y="5785"/>
              <a:ext cx="1989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烘炉</a:t>
              </a:r>
              <a:r>
                <a:rPr lang="en-US" altLang="zh-CN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冶金状态约束</a:t>
              </a:r>
              <a:r>
                <a:rPr lang="en-US" altLang="zh-CN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: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1B6DD1B-74F6-4C33-B087-3B3FBB560C5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184" y="6643"/>
              <a:ext cx="1227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00" b="1" dirty="0">
                  <a:latin typeface="+mn-ea"/>
                  <a:cs typeface="Times New Roman" panose="02020603050405020304" pitchFamily="18" charset="0"/>
                </a:rPr>
                <a:t>功率约束：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7F0EFD0-E2EF-4D41-BEB5-E55C911EBE3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184" y="7318"/>
              <a:ext cx="1989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最小烘炉时间约束：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87C881A-63DC-408A-A070-C0F2789E7B3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244" y="8463"/>
              <a:ext cx="1288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产量约束：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6642E8C3-822F-4C9F-B442-1FD69B7B425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244" y="9152"/>
              <a:ext cx="1888" cy="3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联络线功率约束：</a:t>
              </a:r>
            </a:p>
          </p:txBody>
        </p:sp>
      </p:grpSp>
      <p:pic>
        <p:nvPicPr>
          <p:cNvPr id="50" name="图片 49" descr="D:\科研\实验室工作\实验室项目\6.1重点研发项目\项目ppt\钢铁企业内部流.png钢铁企业内部流">
            <a:extLst>
              <a:ext uri="{FF2B5EF4-FFF2-40B4-BE49-F238E27FC236}">
                <a16:creationId xmlns:a16="http://schemas.microsoft.com/office/drawing/2014/main" id="{1B3ED124-9F08-4A67-8768-9F3123B791C4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3"/>
          <a:srcRect/>
          <a:stretch>
            <a:fillRect/>
          </a:stretch>
        </p:blipFill>
        <p:spPr>
          <a:xfrm>
            <a:off x="6082854" y="2292370"/>
            <a:ext cx="5835745" cy="3512949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CECC4D38-883C-4867-8771-EC5D66854B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873845" y="1805226"/>
            <a:ext cx="3396586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cs typeface="+mn-ea"/>
                <a:sym typeface="+mn-ea"/>
              </a:rPr>
              <a:t>前后工序耦合关系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80D22D2-3CC6-4889-880B-9FC5BC1BB0C6}"/>
              </a:ext>
            </a:extLst>
          </p:cNvPr>
          <p:cNvSpPr txBox="1"/>
          <p:nvPr/>
        </p:nvSpPr>
        <p:spPr>
          <a:xfrm>
            <a:off x="7990719" y="6053977"/>
            <a:ext cx="2497131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 fontAlgn="auto">
              <a:lnSpc>
                <a:spcPct val="120000"/>
              </a:lnSpc>
              <a:spcAft>
                <a:spcPts val="1000"/>
              </a:spcAft>
            </a:pPr>
            <a:r>
              <a:rPr lang="zh-CN" altLang="en-US" sz="1600" b="1" dirty="0">
                <a:cs typeface="+mn-ea"/>
                <a:sym typeface="+mn-ea"/>
              </a:rPr>
              <a:t>钢铁行业的主要工序</a:t>
            </a:r>
            <a:endParaRPr lang="en-US" altLang="zh-CN" sz="18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340587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6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6317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B25B03-381F-4090-8356-C0EC15E1ED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77133" y="1069552"/>
            <a:ext cx="10863022" cy="1861053"/>
          </a:xfrm>
          <a:prstGeom prst="rect">
            <a:avLst/>
          </a:prstGeom>
          <a:solidFill>
            <a:srgbClr val="F7E4FC"/>
          </a:solidFill>
          <a:ln w="9525">
            <a:noFill/>
            <a:prstDash val="dash"/>
          </a:ln>
          <a:effectLst/>
        </p:spPr>
        <p:txBody>
          <a:bodyPr wrap="square" lIns="144000" tIns="108000" rIns="144000" bIns="108000" anchor="ctr" anchorCtr="0">
            <a:noAutofit/>
          </a:bodyPr>
          <a:lstStyle>
            <a:defPPr>
              <a:defRPr lang="en-US"/>
            </a:defPPr>
            <a:lvl1pPr lvl="0" algn="just" hangingPunct="0">
              <a:lnSpc>
                <a:spcPct val="150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SzPct val="80000"/>
              <a:buFontTx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defRPr>
            </a:lvl1pPr>
          </a:lstStyle>
          <a:p>
            <a:pPr lvl="0">
              <a:spcBef>
                <a:spcPts val="0"/>
              </a:spcBef>
              <a:buClr>
                <a:prstClr val="white">
                  <a:lumMod val="50000"/>
                </a:prstClr>
              </a:buClr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lang="zh-CN" altLang="en-US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根据生产过程的特性，大致可以将工业过程分为两类，建模方式有所不同：</a:t>
            </a:r>
            <a:endParaRPr lang="en-US" altLang="zh-CN" sz="2200" dirty="0">
              <a:solidFill>
                <a:prstClr val="black"/>
              </a:solidFill>
              <a:latin typeface="Arial"/>
              <a:ea typeface="微软雅黑" panose="020B0503020204020204" pitchFamily="34" charset="-122"/>
              <a:cs typeface="+mn-cs"/>
              <a:sym typeface="Times New Roman" panose="02020603050405020304"/>
            </a:endParaRPr>
          </a:p>
          <a:p>
            <a:pPr marL="342900" lvl="0" indent="-342900">
              <a:spcBef>
                <a:spcPts val="0"/>
              </a:spcBef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p"/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连续型过程：产出量是生产时间的连续函数；例如钢粉生产中的压碎过程。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Times New Roman" panose="02020603050405020304"/>
            </a:endParaRPr>
          </a:p>
          <a:p>
            <a:pPr marL="342900" lvl="0" indent="-342900">
              <a:spcBef>
                <a:spcPts val="0"/>
              </a:spcBef>
              <a:buClr>
                <a:prstClr val="white">
                  <a:lumMod val="50000"/>
                </a:prstClr>
              </a:buClr>
              <a:buFont typeface="Wingdings" panose="05000000000000000000" pitchFamily="2" charset="2"/>
              <a:buChar char="p"/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离散型过程：产出量是生产时间的离散函数；例如二次炼钢中的电弧炉融化过程。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Times New Roman" panose="02020603050405020304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A68C3D-E41E-4A9C-B8F4-499B0916A58C}"/>
              </a:ext>
            </a:extLst>
          </p:cNvPr>
          <p:cNvSpPr txBox="1"/>
          <p:nvPr/>
        </p:nvSpPr>
        <p:spPr>
          <a:xfrm>
            <a:off x="1137636" y="183730"/>
            <a:ext cx="865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研究背景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-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工业过程分类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9CF490E-1153-4687-8BE9-55AE8CEA84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69" y="3382220"/>
            <a:ext cx="1204941" cy="256157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2EDD659-5347-42FC-9502-4EEB004A80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8991" y="3592286"/>
            <a:ext cx="2229210" cy="219616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0BBB09E-9D34-4287-A1EA-B43DEE52B5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9228" y="3871422"/>
            <a:ext cx="3693160" cy="20333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55806EB-8099-4885-9735-833722F970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47310" y="3799246"/>
            <a:ext cx="3824256" cy="2105489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18DBBD1-DEF3-4D43-B255-2AF8BBBB18F6}"/>
              </a:ext>
            </a:extLst>
          </p:cNvPr>
          <p:cNvSpPr txBox="1"/>
          <p:nvPr/>
        </p:nvSpPr>
        <p:spPr>
          <a:xfrm>
            <a:off x="964869" y="6222960"/>
            <a:ext cx="4871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压碎过程：产品量、用电量与运行时间成正比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DAC0597-0872-4742-8834-9E49BD80DF7C}"/>
              </a:ext>
            </a:extLst>
          </p:cNvPr>
          <p:cNvSpPr txBox="1"/>
          <p:nvPr/>
        </p:nvSpPr>
        <p:spPr>
          <a:xfrm>
            <a:off x="6183791" y="6222960"/>
            <a:ext cx="547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融化过程：完全融化才有能传递到下一环节的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350588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7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6317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86BB37-1125-5B27-2049-C2D011F654DF}"/>
              </a:ext>
            </a:extLst>
          </p:cNvPr>
          <p:cNvSpPr txBox="1"/>
          <p:nvPr/>
        </p:nvSpPr>
        <p:spPr>
          <a:xfrm>
            <a:off x="1137636" y="183730"/>
            <a:ext cx="865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现有研究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-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工业</a:t>
            </a:r>
            <a:r>
              <a:rPr lang="zh-CN" altLang="en-US" sz="3600" b="1" spc="300" dirty="0">
                <a:solidFill>
                  <a:prstClr val="white"/>
                </a:solidFill>
                <a:cs typeface="+mn-ea"/>
                <a:sym typeface="Times New Roman" panose="02020603050405020304"/>
              </a:rPr>
              <a:t>过程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标准化</a:t>
            </a:r>
            <a:r>
              <a:rPr lang="zh-CN" altLang="en-US" sz="3600" b="1" spc="300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Times New Roman" panose="02020603050405020304"/>
              </a:rPr>
              <a:t>模型</a:t>
            </a:r>
            <a:endParaRPr lang="zh-CN" altLang="en-US" sz="3600" b="1" spc="300" dirty="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B25B03-381F-4090-8356-C0EC15E1ED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77133" y="1069552"/>
            <a:ext cx="10863022" cy="995306"/>
          </a:xfrm>
          <a:prstGeom prst="rect">
            <a:avLst/>
          </a:prstGeom>
          <a:solidFill>
            <a:srgbClr val="F7E4FC"/>
          </a:solidFill>
          <a:ln w="9525">
            <a:noFill/>
            <a:prstDash val="dash"/>
          </a:ln>
          <a:effectLst/>
        </p:spPr>
        <p:txBody>
          <a:bodyPr wrap="square" lIns="144000" tIns="108000" rIns="144000" bIns="108000" anchor="ctr" anchorCtr="0">
            <a:noAutofit/>
          </a:bodyPr>
          <a:lstStyle>
            <a:defPPr>
              <a:defRPr lang="en-US"/>
            </a:defPPr>
            <a:lvl1pPr lvl="0" algn="just" hangingPunct="0">
              <a:lnSpc>
                <a:spcPct val="150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SzPct val="80000"/>
              <a:buFontTx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defRPr>
            </a:lvl1pPr>
          </a:lstStyle>
          <a:p>
            <a:pPr lvl="0">
              <a:spcBef>
                <a:spcPts val="0"/>
              </a:spcBef>
              <a:buClr>
                <a:prstClr val="white">
                  <a:lumMod val="50000"/>
                </a:prstClr>
              </a:buClr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lang="zh-CN" altLang="en-US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面向能源系统需求，主要关注</a:t>
            </a:r>
            <a:r>
              <a:rPr lang="zh-CN" altLang="en-US" sz="2200" dirty="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能量</a:t>
            </a:r>
            <a:r>
              <a:rPr lang="en-US" altLang="zh-CN" sz="2200" dirty="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-</a:t>
            </a:r>
            <a:r>
              <a:rPr lang="zh-CN" altLang="en-US" sz="2200" dirty="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物料转化关系</a:t>
            </a:r>
            <a:r>
              <a:rPr lang="zh-CN" altLang="en-US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，可以用状态任务网络</a:t>
            </a:r>
            <a:r>
              <a:rPr lang="en-US" altLang="zh-CN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(state-task network</a:t>
            </a:r>
            <a:r>
              <a:rPr lang="zh-CN" altLang="en-US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STN)</a:t>
            </a:r>
            <a:r>
              <a:rPr lang="zh-CN" altLang="en-US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 建模</a:t>
            </a:r>
            <a:r>
              <a:rPr lang="zh-CN" altLang="en-US" sz="2200" dirty="0">
                <a:solidFill>
                  <a:schemeClr val="tx1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连续型工业过程，用资源任务网络建模离散型工业</a:t>
            </a:r>
            <a:r>
              <a:rPr lang="zh-CN" altLang="en-US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过程。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  <a:sym typeface="Times New Roman" panose="02020603050405020304"/>
            </a:endParaRPr>
          </a:p>
        </p:txBody>
      </p:sp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B7ED64F2-F24E-4129-9909-9E9A286BC2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37636" y="5229960"/>
            <a:ext cx="10388487" cy="884781"/>
          </a:xfrm>
          <a:prstGeom prst="round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b="1">
                <a:latin typeface="+mj-ea"/>
                <a:ea typeface="+mj-ea"/>
                <a:cs typeface="Aparajita" panose="020B0604020202020204" pitchFamily="34" charset="0"/>
              </a:defRPr>
            </a:lvl1pPr>
            <a:lvl2pPr marL="739775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38555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94485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49780" indent="0" algn="l" defTabSz="91122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06345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275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205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3500" indent="-227965" algn="l" defTabSz="91122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9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基于</a:t>
            </a:r>
            <a:r>
              <a:rPr lang="en-US" altLang="zh-CN" dirty="0"/>
              <a:t>STN</a:t>
            </a:r>
            <a:r>
              <a:rPr lang="zh-CN" altLang="en-US" dirty="0"/>
              <a:t>的工业生产过程标准化建模：用任务</a:t>
            </a:r>
            <a:r>
              <a:rPr lang="en-US" altLang="zh-CN" dirty="0"/>
              <a:t>(M)</a:t>
            </a:r>
            <a:r>
              <a:rPr lang="zh-CN" altLang="en-US" dirty="0"/>
              <a:t>描述生产过程，属性包括各生产环节的额定功率、生产速率等；用状态</a:t>
            </a:r>
            <a:r>
              <a:rPr lang="en-US" altLang="zh-CN" dirty="0"/>
              <a:t>(S)</a:t>
            </a:r>
            <a:r>
              <a:rPr lang="zh-CN" altLang="en-US" dirty="0"/>
              <a:t>参数描述各产品，属性包括存储上下限和生产目标等。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3433D84-2B6A-40A0-A770-E73FD85D52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203" y="2304107"/>
            <a:ext cx="10009127" cy="1208093"/>
          </a:xfrm>
          <a:prstGeom prst="rect">
            <a:avLst/>
          </a:prstGeom>
        </p:spPr>
      </p:pic>
      <p:sp>
        <p:nvSpPr>
          <p:cNvPr id="19" name="下箭头 4">
            <a:extLst>
              <a:ext uri="{FF2B5EF4-FFF2-40B4-BE49-F238E27FC236}">
                <a16:creationId xmlns:a16="http://schemas.microsoft.com/office/drawing/2014/main" id="{4F158B1C-6BBA-4E68-8364-7CD5B1209241}"/>
              </a:ext>
            </a:extLst>
          </p:cNvPr>
          <p:cNvSpPr/>
          <p:nvPr/>
        </p:nvSpPr>
        <p:spPr>
          <a:xfrm>
            <a:off x="5971606" y="3512199"/>
            <a:ext cx="429194" cy="370969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C3612C4-A2B3-4A02-9877-62A5B009DD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0182" y="3948937"/>
            <a:ext cx="7170041" cy="103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75312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6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6317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86BB37-1125-5B27-2049-C2D011F654DF}"/>
              </a:ext>
            </a:extLst>
          </p:cNvPr>
          <p:cNvSpPr txBox="1"/>
          <p:nvPr/>
        </p:nvSpPr>
        <p:spPr>
          <a:xfrm>
            <a:off x="1137636" y="183730"/>
            <a:ext cx="865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现有研究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-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工业</a:t>
            </a:r>
            <a:r>
              <a:rPr lang="zh-CN" altLang="en-US" sz="3600" b="1" spc="300" dirty="0">
                <a:solidFill>
                  <a:prstClr val="white"/>
                </a:solidFill>
                <a:cs typeface="+mn-ea"/>
                <a:sym typeface="Times New Roman" panose="02020603050405020304"/>
              </a:rPr>
              <a:t>过程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标准化</a:t>
            </a:r>
            <a:r>
              <a:rPr lang="zh-CN" altLang="en-US" sz="3600" b="1" spc="300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Times New Roman" panose="02020603050405020304"/>
              </a:rPr>
              <a:t>模型</a:t>
            </a:r>
            <a:r>
              <a:rPr lang="en-US" altLang="zh-CN" sz="3600" b="1" spc="300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Times New Roman" panose="02020603050405020304"/>
              </a:rPr>
              <a:t>(</a:t>
            </a:r>
            <a:r>
              <a:rPr lang="zh-CN" altLang="en-US" sz="3600" b="1" spc="300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Times New Roman" panose="02020603050405020304"/>
              </a:rPr>
              <a:t>例）</a:t>
            </a:r>
            <a:endParaRPr lang="zh-CN" altLang="en-US" sz="3600" b="1" spc="300" dirty="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B25B03-381F-4090-8356-C0EC15E1ED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83200" y="1049298"/>
            <a:ext cx="10389551" cy="1035716"/>
          </a:xfrm>
          <a:prstGeom prst="rect">
            <a:avLst/>
          </a:prstGeom>
          <a:solidFill>
            <a:srgbClr val="F7E4FC"/>
          </a:solidFill>
          <a:ln w="9525">
            <a:noFill/>
            <a:prstDash val="dash"/>
          </a:ln>
          <a:effectLst/>
        </p:spPr>
        <p:txBody>
          <a:bodyPr wrap="square" lIns="144000" tIns="108000" rIns="144000" bIns="108000" anchor="ctr" anchorCtr="0">
            <a:noAutofit/>
          </a:bodyPr>
          <a:lstStyle>
            <a:defPPr>
              <a:defRPr lang="en-US"/>
            </a:defPPr>
            <a:lvl1pPr lvl="0" algn="just" hangingPunct="0">
              <a:lnSpc>
                <a:spcPct val="150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SzPct val="80000"/>
              <a:buFontTx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defRPr>
            </a:lvl1pPr>
          </a:lstStyle>
          <a:p>
            <a:pPr lvl="0">
              <a:spcBef>
                <a:spcPts val="0"/>
              </a:spcBef>
              <a:buClr>
                <a:prstClr val="white">
                  <a:lumMod val="50000"/>
                </a:prstClr>
              </a:buClr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lang="zh-CN" altLang="en-US" sz="22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  <a:sym typeface="Times New Roman" panose="02020603050405020304"/>
              </a:rPr>
              <a:t>线性状态任务网络建模某钢粉厂生产：决策变量为设备在各时段、各状态上停留的总时间，求解线性规划可以得到外部电价下的最优用能安排。</a:t>
            </a:r>
            <a:endParaRPr lang="en-US" altLang="zh-CN" sz="2200" dirty="0">
              <a:solidFill>
                <a:prstClr val="black"/>
              </a:solidFill>
              <a:latin typeface="Arial"/>
              <a:ea typeface="微软雅黑" panose="020B0503020204020204" pitchFamily="34" charset="-122"/>
              <a:cs typeface="+mn-cs"/>
              <a:sym typeface="Times New Roman" panose="02020603050405020304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3E9105-896F-4100-95A9-57EE8BD184C9}"/>
              </a:ext>
            </a:extLst>
          </p:cNvPr>
          <p:cNvSpPr txBox="1"/>
          <p:nvPr/>
        </p:nvSpPr>
        <p:spPr>
          <a:xfrm>
            <a:off x="6567641" y="6352143"/>
            <a:ext cx="4831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/>
              </a:rPr>
              <a:t>线性状态任务网络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的钢粉厂生产过程模型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C54E0DD-C063-42FB-8772-40A358C660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939" y="2123600"/>
            <a:ext cx="5930219" cy="385368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38F87BB-B741-4FC7-A9C3-7511A171362E}"/>
              </a:ext>
            </a:extLst>
          </p:cNvPr>
          <p:cNvSpPr txBox="1"/>
          <p:nvPr/>
        </p:nvSpPr>
        <p:spPr>
          <a:xfrm>
            <a:off x="2332415" y="5941882"/>
            <a:ext cx="4330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某钢粉厂生产过程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59B9B56-0B85-4BB5-9ECC-8CBB7B3A1B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9741" y="4720783"/>
            <a:ext cx="3668114" cy="129766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6334527-4CF4-4BE3-B4EF-E04D984181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2588" y="3744042"/>
            <a:ext cx="3405938" cy="85831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34037F1-6379-48AC-B68D-D87BEF2494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7641" y="2993795"/>
            <a:ext cx="3492315" cy="65445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2ABC8D0-8DD6-4381-850D-FF5FC414EB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3314" y="2614856"/>
            <a:ext cx="3306786" cy="35931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4BAFEC3-A5C6-4C15-9BB8-96C7F8257C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7641" y="2195043"/>
            <a:ext cx="3306786" cy="32165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0CEF58A-ADB1-4C15-9E31-CCF9054460CE}"/>
              </a:ext>
            </a:extLst>
          </p:cNvPr>
          <p:cNvSpPr/>
          <p:nvPr/>
        </p:nvSpPr>
        <p:spPr>
          <a:xfrm>
            <a:off x="7916858" y="2632193"/>
            <a:ext cx="465776" cy="2740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E035CD-18BE-44B3-A946-B0A77F9998E1}"/>
              </a:ext>
            </a:extLst>
          </p:cNvPr>
          <p:cNvSpPr/>
          <p:nvPr/>
        </p:nvSpPr>
        <p:spPr>
          <a:xfrm>
            <a:off x="6664065" y="2990301"/>
            <a:ext cx="465776" cy="2740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D4EF58-E226-4744-9F02-4756FAD097FF}"/>
              </a:ext>
            </a:extLst>
          </p:cNvPr>
          <p:cNvSpPr/>
          <p:nvPr/>
        </p:nvSpPr>
        <p:spPr>
          <a:xfrm>
            <a:off x="7029353" y="3374239"/>
            <a:ext cx="465776" cy="2740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824ED1-35DD-445B-A6D9-68E91908391E}"/>
              </a:ext>
            </a:extLst>
          </p:cNvPr>
          <p:cNvSpPr/>
          <p:nvPr/>
        </p:nvSpPr>
        <p:spPr>
          <a:xfrm>
            <a:off x="8313798" y="4724707"/>
            <a:ext cx="465776" cy="2740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DD16A2C-3FFE-404D-90F2-64F15D45E272}"/>
              </a:ext>
            </a:extLst>
          </p:cNvPr>
          <p:cNvSpPr/>
          <p:nvPr/>
        </p:nvSpPr>
        <p:spPr>
          <a:xfrm>
            <a:off x="9399630" y="5087814"/>
            <a:ext cx="465776" cy="2740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D927CD-11B5-4619-BD27-32E67155B569}"/>
              </a:ext>
            </a:extLst>
          </p:cNvPr>
          <p:cNvSpPr/>
          <p:nvPr/>
        </p:nvSpPr>
        <p:spPr>
          <a:xfrm>
            <a:off x="8220388" y="5744431"/>
            <a:ext cx="465776" cy="2740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936A224-7A0E-421E-827D-2D844B08F0C7}"/>
              </a:ext>
            </a:extLst>
          </p:cNvPr>
          <p:cNvSpPr txBox="1"/>
          <p:nvPr/>
        </p:nvSpPr>
        <p:spPr>
          <a:xfrm>
            <a:off x="10434401" y="2123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用能成本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AD3C948-D341-4B9E-9CFC-EEED7DBED8C4}"/>
              </a:ext>
            </a:extLst>
          </p:cNvPr>
          <p:cNvSpPr txBox="1"/>
          <p:nvPr/>
        </p:nvSpPr>
        <p:spPr>
          <a:xfrm>
            <a:off x="10434401" y="259887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用能构成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A0BD1AA-699B-4407-A09A-7926B9464E2F}"/>
                  </a:ext>
                </a:extLst>
              </p:cNvPr>
              <p:cNvSpPr txBox="1"/>
              <p:nvPr/>
            </p:nvSpPr>
            <p:spPr>
              <a:xfrm>
                <a:off x="10434401" y="3127740"/>
                <a:ext cx="1122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𝑡𝑖𝑘</m:t>
                        </m:r>
                      </m:sub>
                    </m:sSub>
                  </m:oMath>
                </a14:m>
                <a:r>
                  <a:rPr lang="zh-CN" altLang="en-US" dirty="0"/>
                  <a:t>约束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A0BD1AA-699B-4407-A09A-7926B9464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401" y="3127740"/>
                <a:ext cx="1122295" cy="369332"/>
              </a:xfrm>
              <a:prstGeom prst="rect">
                <a:avLst/>
              </a:prstGeom>
              <a:blipFill>
                <a:blip r:embed="rId14"/>
                <a:stretch>
                  <a:fillRect t="-8197" r="-3804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9307CA1C-8075-44FD-ACD5-4A47E3798DEC}"/>
              </a:ext>
            </a:extLst>
          </p:cNvPr>
          <p:cNvSpPr txBox="1"/>
          <p:nvPr/>
        </p:nvSpPr>
        <p:spPr>
          <a:xfrm>
            <a:off x="10434401" y="367856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生产目标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E469098-EE79-4F20-92E7-F8B06B188E75}"/>
              </a:ext>
            </a:extLst>
          </p:cNvPr>
          <p:cNvSpPr txBox="1"/>
          <p:nvPr/>
        </p:nvSpPr>
        <p:spPr>
          <a:xfrm>
            <a:off x="10434401" y="40223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物料存储限制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A60FF64-6560-4830-BE58-2B7B883C8469}"/>
              </a:ext>
            </a:extLst>
          </p:cNvPr>
          <p:cNvSpPr txBox="1"/>
          <p:nvPr/>
        </p:nvSpPr>
        <p:spPr>
          <a:xfrm>
            <a:off x="10434401" y="43514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物料初值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6C17FEE-0526-4E2E-BE11-8677DF095AF4}"/>
              </a:ext>
            </a:extLst>
          </p:cNvPr>
          <p:cNvSpPr txBox="1"/>
          <p:nvPr/>
        </p:nvSpPr>
        <p:spPr>
          <a:xfrm>
            <a:off x="10434401" y="514990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物料变化关系</a:t>
            </a:r>
          </a:p>
        </p:txBody>
      </p:sp>
      <p:sp>
        <p:nvSpPr>
          <p:cNvPr id="35" name="矩形: 圆角 8">
            <a:extLst>
              <a:ext uri="{FF2B5EF4-FFF2-40B4-BE49-F238E27FC236}">
                <a16:creationId xmlns:a16="http://schemas.microsoft.com/office/drawing/2014/main" id="{559E3F26-FCC7-449E-A306-D048BB6FBFB1}"/>
              </a:ext>
            </a:extLst>
          </p:cNvPr>
          <p:cNvSpPr/>
          <p:nvPr/>
        </p:nvSpPr>
        <p:spPr>
          <a:xfrm>
            <a:off x="6300160" y="2138780"/>
            <a:ext cx="4005636" cy="4054011"/>
          </a:xfrm>
          <a:prstGeom prst="roundRect">
            <a:avLst>
              <a:gd name="adj" fmla="val 2065"/>
            </a:avLst>
          </a:prstGeom>
          <a:noFill/>
          <a:ln w="19050">
            <a:solidFill>
              <a:srgbClr val="862C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11F4FF8-E0EA-4CFD-9B8A-DBE7EA366F20}"/>
              </a:ext>
            </a:extLst>
          </p:cNvPr>
          <p:cNvSpPr txBox="1"/>
          <p:nvPr/>
        </p:nvSpPr>
        <p:spPr>
          <a:xfrm>
            <a:off x="9370007" y="1736180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t: </a:t>
            </a:r>
            <a:r>
              <a:rPr lang="zh-CN" altLang="en-US" dirty="0"/>
              <a:t>时段编号；</a:t>
            </a:r>
            <a:r>
              <a:rPr lang="en-US" altLang="zh-CN" dirty="0"/>
              <a:t>i:</a:t>
            </a:r>
            <a:r>
              <a:rPr lang="zh-CN" altLang="en-US" dirty="0"/>
              <a:t> 工序编号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D1E15A-0C86-131F-5EC8-950AE7F9B3FF}"/>
              </a:ext>
            </a:extLst>
          </p:cNvPr>
          <p:cNvSpPr txBox="1"/>
          <p:nvPr/>
        </p:nvSpPr>
        <p:spPr>
          <a:xfrm>
            <a:off x="368501" y="6255649"/>
            <a:ext cx="6111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48618">
              <a:spcAft>
                <a:spcPts val="300"/>
              </a:spcAft>
              <a:defRPr/>
            </a:pPr>
            <a:r>
              <a:rPr lang="en-US" altLang="zh-CN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Lyu</a:t>
            </a:r>
            <a:r>
              <a:rPr lang="en-US" altLang="zh-C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et al. (2023), “LSTN: A Linear Model of Industrial Production Process for Demand Response”, </a:t>
            </a:r>
            <a:r>
              <a:rPr lang="en-US" altLang="zh-CN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IEEE PES ISGT EUROPE.</a:t>
            </a:r>
            <a:endParaRPr lang="en-US" altLang="zh-CN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17358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5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6317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86BB37-1125-5B27-2049-C2D011F654DF}"/>
              </a:ext>
            </a:extLst>
          </p:cNvPr>
          <p:cNvSpPr txBox="1"/>
          <p:nvPr/>
        </p:nvSpPr>
        <p:spPr>
          <a:xfrm>
            <a:off x="1137636" y="183730"/>
            <a:ext cx="865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挑战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-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工业</a:t>
            </a:r>
            <a:r>
              <a:rPr lang="zh-CN" altLang="en-US" sz="3600" b="1" spc="300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Times New Roman" panose="02020603050405020304"/>
              </a:rPr>
              <a:t>过程模型的参数获取问题</a:t>
            </a:r>
            <a:endParaRPr lang="zh-CN" altLang="en-US" sz="3600" b="1" spc="300" dirty="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12CFC2-1E83-4B95-A6C6-4DB3D0427E79}"/>
              </a:ext>
            </a:extLst>
          </p:cNvPr>
          <p:cNvSpPr txBox="1"/>
          <p:nvPr/>
        </p:nvSpPr>
        <p:spPr>
          <a:xfrm>
            <a:off x="1071919" y="1296390"/>
            <a:ext cx="10048161" cy="1688411"/>
          </a:xfrm>
          <a:prstGeom prst="rect">
            <a:avLst/>
          </a:prstGeom>
          <a:solidFill>
            <a:srgbClr val="F7E4F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rgbClr val="074C97"/>
                </a:solidFill>
              </a:defRPr>
            </a:lvl1pPr>
          </a:lstStyle>
          <a:p>
            <a:pPr marL="285750" lvl="0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工厂的设备参数通常是私有数据，因此建模面对不完全信息的条件：即使有精细的负荷模型，也难以确定模型参数，</a:t>
            </a:r>
            <a:r>
              <a:rPr lang="zh-CN" altLang="en-US" sz="2400" dirty="0">
                <a:solidFill>
                  <a:srgbClr val="FF0000"/>
                </a:solidFill>
                <a:latin typeface="Arial"/>
                <a:ea typeface="微软雅黑" panose="020B0503020204020204" pitchFamily="34" charset="-122"/>
              </a:rPr>
              <a:t>限制了负荷建模的精度</a:t>
            </a:r>
            <a:endParaRPr lang="en-US" altLang="zh-CN" sz="2400" dirty="0">
              <a:solidFill>
                <a:srgbClr val="FF0000"/>
              </a:solidFill>
              <a:latin typeface="Arial"/>
              <a:ea typeface="微软雅黑" panose="020B0503020204020204" pitchFamily="34" charset="-122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只有少量的外部电表数据可用，而且通常是</a:t>
            </a:r>
            <a:r>
              <a:rPr lang="zh-CN" altLang="en-US" sz="2400" dirty="0">
                <a:solidFill>
                  <a:srgbClr val="FF0000"/>
                </a:solidFill>
                <a:latin typeface="Arial"/>
                <a:ea typeface="微软雅黑" panose="020B0503020204020204" pitchFamily="34" charset="-122"/>
              </a:rPr>
              <a:t>粗细粒度数据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每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15</a:t>
            </a: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分钟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CC2307F-3105-43A9-8861-51A3A87DA9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459" y="3312575"/>
            <a:ext cx="4023458" cy="2492288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EA58EC7-77CA-4ABE-BA3F-67B79852033C}"/>
              </a:ext>
            </a:extLst>
          </p:cNvPr>
          <p:cNvSpPr/>
          <p:nvPr/>
        </p:nvSpPr>
        <p:spPr>
          <a:xfrm>
            <a:off x="6827177" y="5991859"/>
            <a:ext cx="4113725" cy="799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latin typeface="+mj-ea"/>
                <a:ea typeface="+mj-ea"/>
                <a:cs typeface="Aparajita" panose="020B0604020202020204" pitchFamily="34" charset="0"/>
              </a:rPr>
              <a:t>能否仅利用外部电表数据挖掘确定负荷模型参数？</a:t>
            </a:r>
            <a:endParaRPr lang="en-US" altLang="zh-CN" sz="2000" b="1" dirty="0">
              <a:latin typeface="+mj-ea"/>
              <a:ea typeface="+mj-ea"/>
              <a:cs typeface="Aparajita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F1CF39-44D3-41CC-A03B-D9DC818EA53D}"/>
              </a:ext>
            </a:extLst>
          </p:cNvPr>
          <p:cNvSpPr/>
          <p:nvPr/>
        </p:nvSpPr>
        <p:spPr>
          <a:xfrm>
            <a:off x="1668295" y="5991859"/>
            <a:ext cx="4247941" cy="799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latin typeface="+mj-ea"/>
                <a:ea typeface="+mj-ea"/>
                <a:cs typeface="Aparajita" panose="020B0604020202020204" pitchFamily="34" charset="0"/>
              </a:rPr>
              <a:t>建立精细负荷模型需要用户内部用能设备参数，但可能无法直接获取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CD599E60-D1C6-4804-AE35-9E7FE7487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46179"/>
              </p:ext>
            </p:extLst>
          </p:nvPr>
        </p:nvGraphicFramePr>
        <p:xfrm>
          <a:off x="1006203" y="3407758"/>
          <a:ext cx="5253324" cy="22712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7312">
                  <a:extLst>
                    <a:ext uri="{9D8B030D-6E8A-4147-A177-3AD203B41FA5}">
                      <a16:colId xmlns:a16="http://schemas.microsoft.com/office/drawing/2014/main" val="2680425789"/>
                    </a:ext>
                  </a:extLst>
                </a:gridCol>
                <a:gridCol w="976252">
                  <a:extLst>
                    <a:ext uri="{9D8B030D-6E8A-4147-A177-3AD203B41FA5}">
                      <a16:colId xmlns:a16="http://schemas.microsoft.com/office/drawing/2014/main" val="381436959"/>
                    </a:ext>
                  </a:extLst>
                </a:gridCol>
                <a:gridCol w="1097312">
                  <a:extLst>
                    <a:ext uri="{9D8B030D-6E8A-4147-A177-3AD203B41FA5}">
                      <a16:colId xmlns:a16="http://schemas.microsoft.com/office/drawing/2014/main" val="1615978489"/>
                    </a:ext>
                  </a:extLst>
                </a:gridCol>
                <a:gridCol w="1097312">
                  <a:extLst>
                    <a:ext uri="{9D8B030D-6E8A-4147-A177-3AD203B41FA5}">
                      <a16:colId xmlns:a16="http://schemas.microsoft.com/office/drawing/2014/main" val="3796927510"/>
                    </a:ext>
                  </a:extLst>
                </a:gridCol>
                <a:gridCol w="985136">
                  <a:extLst>
                    <a:ext uri="{9D8B030D-6E8A-4147-A177-3AD203B41FA5}">
                      <a16:colId xmlns:a16="http://schemas.microsoft.com/office/drawing/2014/main" val="4285479686"/>
                    </a:ext>
                  </a:extLst>
                </a:gridCol>
              </a:tblGrid>
              <a:tr h="492500"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zh-CN" sz="1800" kern="100" spc="10" dirty="0">
                          <a:effectLst/>
                        </a:rPr>
                        <a:t>机器</a:t>
                      </a:r>
                      <a:r>
                        <a:rPr lang="en-US" sz="1800" kern="100" spc="10" dirty="0">
                          <a:effectLst/>
                        </a:rPr>
                        <a:t>/</a:t>
                      </a:r>
                    </a:p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zh-CN" sz="1800" kern="100" spc="10" dirty="0">
                          <a:effectLst/>
                        </a:rPr>
                        <a:t>工序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zh-CN" sz="1800" kern="100" spc="10" dirty="0">
                          <a:effectLst/>
                        </a:rPr>
                        <a:t>运行</a:t>
                      </a:r>
                      <a:endParaRPr lang="en-US" altLang="zh-CN" sz="1800" kern="100" spc="10" dirty="0">
                        <a:effectLst/>
                      </a:endParaRPr>
                    </a:p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zh-CN" sz="1800" kern="100" spc="10" dirty="0">
                          <a:effectLst/>
                        </a:rPr>
                        <a:t>状态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zh-CN" sz="1800" kern="100" spc="10" dirty="0">
                          <a:effectLst/>
                        </a:rPr>
                        <a:t>生产速率（</a:t>
                      </a:r>
                      <a:r>
                        <a:rPr lang="en-US" sz="1800" kern="100" spc="10" dirty="0">
                          <a:effectLst/>
                        </a:rPr>
                        <a:t>Ton/h</a:t>
                      </a:r>
                      <a:r>
                        <a:rPr lang="zh-CN" sz="1800" kern="100" spc="10" dirty="0">
                          <a:effectLst/>
                        </a:rPr>
                        <a:t>）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zh-CN" altLang="en-US" sz="1800" kern="100" spc="10" dirty="0">
                          <a:effectLst/>
                        </a:rPr>
                        <a:t>运行功率</a:t>
                      </a:r>
                      <a:r>
                        <a:rPr lang="en-US" sz="1800" kern="100" spc="10" dirty="0">
                          <a:effectLst/>
                        </a:rPr>
                        <a:t>(kW)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zh-CN" sz="1800" kern="100" spc="10" dirty="0">
                          <a:effectLst/>
                        </a:rPr>
                        <a:t>存储容量</a:t>
                      </a:r>
                      <a:r>
                        <a:rPr lang="en-US" sz="1800" kern="100" spc="10" dirty="0">
                          <a:effectLst/>
                        </a:rPr>
                        <a:t>(Ton)</a:t>
                      </a:r>
                      <a:endParaRPr lang="zh-CN" sz="3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3805942"/>
                  </a:ext>
                </a:extLst>
              </a:tr>
              <a:tr h="247167">
                <a:tc rowSpan="3"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zh-CN" sz="1800" kern="100" spc="10">
                          <a:effectLst/>
                        </a:rPr>
                        <a:t>混合机</a:t>
                      </a:r>
                      <a:r>
                        <a:rPr lang="en-US" sz="1800" kern="100" spc="10">
                          <a:effectLst/>
                        </a:rPr>
                        <a:t>/10</a:t>
                      </a:r>
                      <a:endParaRPr lang="zh-CN" sz="3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800" kern="100" spc="1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00" spc="1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en-US" sz="1800" b="1" kern="100" spc="1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zh-CN" sz="32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en-US" sz="1800" b="1" kern="100" spc="1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zh-CN" sz="32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en-US" sz="1800" b="1" kern="100" spc="10" dirty="0">
                          <a:solidFill>
                            <a:srgbClr val="FF0000"/>
                          </a:solidFill>
                          <a:effectLst/>
                        </a:rPr>
                        <a:t>200</a:t>
                      </a:r>
                      <a:endParaRPr lang="zh-CN" sz="32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6115882"/>
                  </a:ext>
                </a:extLst>
              </a:tr>
              <a:tr h="2471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800" kern="100" spc="1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00" spc="1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en-US" sz="1800" b="1" kern="100" spc="10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zh-CN" sz="32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en-US" sz="1800" b="1" kern="100" spc="10" dirty="0"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lang="zh-CN" sz="32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541041"/>
                  </a:ext>
                </a:extLst>
              </a:tr>
              <a:tr h="2471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800" kern="100" spc="1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kern="100" spc="1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en-US" sz="1800" b="1" kern="100" spc="10" dirty="0">
                          <a:solidFill>
                            <a:srgbClr val="FF0000"/>
                          </a:solidFill>
                          <a:effectLst/>
                        </a:rPr>
                        <a:t>15</a:t>
                      </a:r>
                      <a:endParaRPr lang="zh-CN" sz="32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</a:pPr>
                      <a:r>
                        <a:rPr lang="en-US" sz="1800" b="1" kern="100" spc="10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zh-CN" sz="3200" b="1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287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2654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6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6317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86BB37-1125-5B27-2049-C2D011F654DF}"/>
              </a:ext>
            </a:extLst>
          </p:cNvPr>
          <p:cNvSpPr txBox="1"/>
          <p:nvPr/>
        </p:nvSpPr>
        <p:spPr>
          <a:xfrm>
            <a:off x="1137636" y="183730"/>
            <a:ext cx="865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工业</a:t>
            </a:r>
            <a:r>
              <a:rPr lang="zh-CN" altLang="en-US" sz="3600" b="1" spc="300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Times New Roman" panose="02020603050405020304"/>
              </a:rPr>
              <a:t>过程参数辨识方法</a:t>
            </a:r>
            <a:r>
              <a:rPr lang="en-US" altLang="zh-CN" sz="3600" b="1" spc="300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Times New Roman" panose="02020603050405020304"/>
              </a:rPr>
              <a:t>-</a:t>
            </a:r>
            <a:r>
              <a:rPr lang="zh-CN" altLang="en-US" sz="3600" b="1" spc="300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Times New Roman" panose="02020603050405020304"/>
              </a:rPr>
              <a:t>核心思想</a:t>
            </a:r>
            <a:endParaRPr lang="zh-CN" altLang="en-US" sz="3600" b="1" spc="300" dirty="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B25B03-381F-4090-8356-C0EC15E1ED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8443" y="1206263"/>
            <a:ext cx="11055114" cy="1769538"/>
          </a:xfrm>
          <a:prstGeom prst="rect">
            <a:avLst/>
          </a:prstGeom>
          <a:solidFill>
            <a:srgbClr val="F7E4FC"/>
          </a:solidFill>
          <a:ln w="9525">
            <a:noFill/>
            <a:prstDash val="dash"/>
          </a:ln>
          <a:effectLst/>
        </p:spPr>
        <p:txBody>
          <a:bodyPr wrap="square" lIns="144000" tIns="108000" rIns="144000" bIns="108000" anchor="ctr" anchorCtr="0">
            <a:noAutofit/>
          </a:bodyPr>
          <a:lstStyle>
            <a:defPPr>
              <a:defRPr lang="en-US"/>
            </a:defPPr>
            <a:lvl1pPr lvl="0" algn="just" hangingPunct="0">
              <a:lnSpc>
                <a:spcPct val="150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SzPct val="80000"/>
              <a:buFontTx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defRPr>
            </a:lvl1pPr>
          </a:lstStyle>
          <a:p>
            <a:pPr>
              <a:spcBef>
                <a:spcPts val="0"/>
              </a:spcBef>
              <a:buClr>
                <a:prstClr val="white">
                  <a:lumMod val="50000"/>
                </a:prstClr>
              </a:buClr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</a:rPr>
              <a:t>针对实际操作中可能无法获得用户内部设备参数的问题，充分利用先验知识，并利用外部电表数据拟合流水线设备参数，从而支撑不完全信息下负荷建模。</a:t>
            </a:r>
            <a:endParaRPr lang="en-US" altLang="zh-CN" sz="2400" dirty="0">
              <a:solidFill>
                <a:prstClr val="black"/>
              </a:solidFill>
              <a:latin typeface="Arial"/>
              <a:ea typeface="微软雅黑" panose="020B0503020204020204" pitchFamily="34" charset="-122"/>
              <a:cs typeface="+mn-cs"/>
            </a:endParaRPr>
          </a:p>
          <a:p>
            <a:pPr>
              <a:spcBef>
                <a:spcPts val="0"/>
              </a:spcBef>
              <a:buClr>
                <a:prstClr val="white">
                  <a:lumMod val="50000"/>
                </a:prstClr>
              </a:buClr>
              <a:defRPr/>
              <a:extLst>
                <a:ext uri="{35155182-B16C-46BC-9424-99874614C6A1}">
                  <wpsdc:indentchars xmlns:wpsdc="http://www.wps.cn/officeDocument/2017/drawingmlCustomData" xmlns="" val="200" checksum="4158780845"/>
                </a:ext>
              </a:extLst>
            </a:pP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</a:rPr>
              <a:t>思想：将电表数据视为最优用能，从最优解倒推模型参数，构成</a:t>
            </a:r>
            <a:r>
              <a:rPr lang="zh-CN" altLang="en-US" sz="2400" dirty="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cs"/>
              </a:rPr>
              <a:t>逆向优化</a:t>
            </a: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cs"/>
              </a:rPr>
              <a:t>问题。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396551C-FDA7-4A44-8986-D0F78906AE11}"/>
              </a:ext>
            </a:extLst>
          </p:cNvPr>
          <p:cNvSpPr txBox="1"/>
          <p:nvPr/>
        </p:nvSpPr>
        <p:spPr>
          <a:xfrm>
            <a:off x="820554" y="4227631"/>
            <a:ext cx="14895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模型参数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46D99BD7-181A-4820-86A3-3007B78F28C1}"/>
              </a:ext>
            </a:extLst>
          </p:cNvPr>
          <p:cNvSpPr/>
          <p:nvPr/>
        </p:nvSpPr>
        <p:spPr>
          <a:xfrm>
            <a:off x="2310063" y="3429000"/>
            <a:ext cx="779646" cy="21536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5ADFE00-25C0-4D3E-808E-371F845B2999}"/>
              </a:ext>
            </a:extLst>
          </p:cNvPr>
          <p:cNvSpPr txBox="1"/>
          <p:nvPr/>
        </p:nvSpPr>
        <p:spPr>
          <a:xfrm>
            <a:off x="3254142" y="3244940"/>
            <a:ext cx="40129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Arial"/>
                <a:ea typeface="微软雅黑" panose="020B0503020204020204" pitchFamily="34" charset="-122"/>
              </a:rPr>
              <a:t>先验知识</a:t>
            </a:r>
            <a:r>
              <a:rPr lang="zh-CN" altLang="en-US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：如每电解生产</a:t>
            </a:r>
            <a:r>
              <a:rPr lang="en-US" altLang="zh-CN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1</a:t>
            </a:r>
            <a:r>
              <a:rPr lang="zh-CN" altLang="en-US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公斤铝需要的用电量、原材料量</a:t>
            </a:r>
            <a:r>
              <a:rPr lang="en-US" altLang="zh-CN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…</a:t>
            </a:r>
            <a:endParaRPr lang="zh-CN" altLang="en-US" sz="2200" b="1" dirty="0">
              <a:solidFill>
                <a:prstClr val="black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23C0660-BC3E-4B65-9045-1FFECB53F37A}"/>
              </a:ext>
            </a:extLst>
          </p:cNvPr>
          <p:cNvSpPr txBox="1"/>
          <p:nvPr/>
        </p:nvSpPr>
        <p:spPr>
          <a:xfrm>
            <a:off x="3254142" y="5346557"/>
            <a:ext cx="820954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Arial"/>
                <a:ea typeface="微软雅黑" panose="020B0503020204020204" pitchFamily="34" charset="-122"/>
              </a:rPr>
              <a:t>私有数据</a:t>
            </a:r>
            <a:r>
              <a:rPr lang="zh-CN" altLang="en-US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：设备额定功率、物料存储空间、生产目标</a:t>
            </a:r>
            <a:r>
              <a:rPr lang="en-US" altLang="zh-CN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…</a:t>
            </a:r>
            <a:endParaRPr lang="zh-CN" altLang="en-US" sz="2200" b="1" dirty="0">
              <a:solidFill>
                <a:prstClr val="black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933351-BF0C-4892-95C4-591A38782280}"/>
              </a:ext>
            </a:extLst>
          </p:cNvPr>
          <p:cNvSpPr txBox="1"/>
          <p:nvPr/>
        </p:nvSpPr>
        <p:spPr>
          <a:xfrm>
            <a:off x="8402856" y="3201040"/>
            <a:ext cx="35132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Arial"/>
                <a:ea typeface="微软雅黑" panose="020B0503020204020204" pitchFamily="34" charset="-122"/>
              </a:rPr>
              <a:t>外部电表数据</a:t>
            </a:r>
            <a:r>
              <a:rPr lang="zh-CN" altLang="en-US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（如过去一个月每天</a:t>
            </a:r>
            <a:r>
              <a:rPr lang="en-US" altLang="zh-CN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96</a:t>
            </a:r>
            <a:r>
              <a:rPr lang="zh-CN" altLang="en-US" sz="22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点总表数据）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AE39F4A-F40D-4116-A854-A3D9502B1667}"/>
              </a:ext>
            </a:extLst>
          </p:cNvPr>
          <p:cNvSpPr txBox="1"/>
          <p:nvPr/>
        </p:nvSpPr>
        <p:spPr>
          <a:xfrm>
            <a:off x="7500496" y="3280112"/>
            <a:ext cx="729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prstClr val="black"/>
                </a:solidFill>
                <a:latin typeface="Arial"/>
                <a:ea typeface="微软雅黑" panose="020B0503020204020204" pitchFamily="34" charset="-122"/>
              </a:rPr>
              <a:t>＋</a:t>
            </a:r>
            <a:endParaRPr lang="zh-CN" altLang="en-US" sz="3600" dirty="0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D29B3C4E-2F21-40A7-A8BA-D73AE066B64A}"/>
              </a:ext>
            </a:extLst>
          </p:cNvPr>
          <p:cNvSpPr/>
          <p:nvPr/>
        </p:nvSpPr>
        <p:spPr>
          <a:xfrm>
            <a:off x="7632834" y="4205911"/>
            <a:ext cx="452387" cy="10106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98306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5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E1C93807-F228-4D80-6A55-5AEFD979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4232" y="64835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35EB95-EDB4-4800-AABE-33BC37FB2680}"/>
              </a:ext>
            </a:extLst>
          </p:cNvPr>
          <p:cNvSpPr/>
          <p:nvPr/>
        </p:nvSpPr>
        <p:spPr>
          <a:xfrm>
            <a:off x="2299415" y="6499410"/>
            <a:ext cx="5174405" cy="39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parajita" panose="020B0604020202020204" pitchFamily="34" charset="0"/>
              </a:rPr>
              <a:t>工业过程参数辨识方法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193D73-D5AF-4C53-BCE7-AA53EF6D1BFF}"/>
              </a:ext>
            </a:extLst>
          </p:cNvPr>
          <p:cNvSpPr/>
          <p:nvPr/>
        </p:nvSpPr>
        <p:spPr>
          <a:xfrm>
            <a:off x="1237615" y="1165740"/>
            <a:ext cx="9676191" cy="1422954"/>
          </a:xfrm>
          <a:prstGeom prst="rect">
            <a:avLst/>
          </a:prstGeom>
          <a:solidFill>
            <a:srgbClr val="F7E4FC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类比机器学习，利用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历史用电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电价数据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</a:t>
            </a:r>
            <a:r>
              <a:rPr lang="zh-CN" altLang="en-US" sz="2000" b="1" dirty="0">
                <a:solidFill>
                  <a:srgbClr val="580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最能拟合目标用户历史用能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的模型参数。训练过程主要通过</a:t>
            </a:r>
            <a:r>
              <a:rPr lang="zh-CN" altLang="en-US" sz="2000" b="1" dirty="0">
                <a:solidFill>
                  <a:srgbClr val="580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逆向优化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技术实现，基于</a:t>
            </a:r>
            <a:r>
              <a:rPr lang="zh-CN" altLang="en-US" sz="2000" b="1" dirty="0">
                <a:solidFill>
                  <a:srgbClr val="580C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先验知识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缩小可行域，迭代求解模型的最优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生产环节数量、额定功率、生产速率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存储上限、生产目标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ABE87E8-3BEA-46A0-89BB-9850BA325B5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2634"/>
          <a:stretch/>
        </p:blipFill>
        <p:spPr>
          <a:xfrm>
            <a:off x="6194938" y="3623921"/>
            <a:ext cx="4865142" cy="163974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F2A7B17-252C-470B-96D4-3525D9D7EE3D}"/>
              </a:ext>
            </a:extLst>
          </p:cNvPr>
          <p:cNvSpPr txBox="1"/>
          <p:nvPr/>
        </p:nvSpPr>
        <p:spPr>
          <a:xfrm>
            <a:off x="6559420" y="5495998"/>
            <a:ext cx="3610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其中，</a:t>
            </a:r>
            <a:r>
              <a:rPr lang="en-US" altLang="zh-CN" dirty="0"/>
              <a:t>(2)-(9)</a:t>
            </a:r>
            <a:r>
              <a:rPr lang="zh-CN" altLang="en-US" dirty="0"/>
              <a:t>由</a:t>
            </a:r>
            <a:r>
              <a:rPr lang="en-US" altLang="zh-CN" dirty="0"/>
              <a:t>LSTN</a:t>
            </a:r>
            <a:r>
              <a:rPr lang="zh-CN" altLang="en-US" dirty="0"/>
              <a:t>模型给出，</a:t>
            </a:r>
            <a:r>
              <a:rPr lang="en-US" altLang="zh-CN" dirty="0"/>
              <a:t>(11)-(14)</a:t>
            </a:r>
            <a:r>
              <a:rPr lang="zh-CN" altLang="en-US" dirty="0"/>
              <a:t>是其对偶问题约束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B00352-0ABD-46A2-8876-08813228F7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550" y="2592126"/>
            <a:ext cx="4926514" cy="395797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2F71DCF-3708-49CE-BB5D-BA88C534E397}"/>
              </a:ext>
            </a:extLst>
          </p:cNvPr>
          <p:cNvSpPr/>
          <p:nvPr/>
        </p:nvSpPr>
        <p:spPr>
          <a:xfrm>
            <a:off x="8072719" y="3875031"/>
            <a:ext cx="343493" cy="342406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C8E6FC-2C12-4E53-8B9C-BC2B20C67B7E}"/>
              </a:ext>
            </a:extLst>
          </p:cNvPr>
          <p:cNvSpPr txBox="1"/>
          <p:nvPr/>
        </p:nvSpPr>
        <p:spPr>
          <a:xfrm>
            <a:off x="6075710" y="2852624"/>
            <a:ext cx="51738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将历史电表数据视为最优用能结果，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从最优解倒推模型参数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，构成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逆向优化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88BC7D-6998-4EFD-9F72-6E920B738F66}"/>
              </a:ext>
            </a:extLst>
          </p:cNvPr>
          <p:cNvSpPr txBox="1"/>
          <p:nvPr/>
        </p:nvSpPr>
        <p:spPr>
          <a:xfrm>
            <a:off x="1137636" y="183730"/>
            <a:ext cx="865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研究进展</a:t>
            </a:r>
            <a:r>
              <a:rPr kumimoji="0" lang="en-US" altLang="zh-CN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-</a:t>
            </a: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工业</a:t>
            </a:r>
            <a:r>
              <a:rPr lang="zh-CN" altLang="en-US" sz="3600" b="1" spc="300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Times New Roman" panose="02020603050405020304"/>
              </a:rPr>
              <a:t>过程参数辨识方法</a:t>
            </a:r>
            <a:endParaRPr lang="zh-CN" altLang="en-US" sz="3600" b="1" spc="300" dirty="0">
              <a:solidFill>
                <a:prstClr val="white"/>
              </a:solidFill>
              <a:latin typeface="Arial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156820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5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175" name="文本框 174"/>
          <p:cNvSpPr txBox="1"/>
          <p:nvPr/>
        </p:nvSpPr>
        <p:spPr>
          <a:xfrm>
            <a:off x="1237615" y="191881"/>
            <a:ext cx="10306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测试思路</a:t>
            </a: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E1C93807-F228-4D80-6A55-5AEFD979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4232" y="64835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EF515B-ABC1-4476-890C-31D9606D362E}"/>
              </a:ext>
            </a:extLst>
          </p:cNvPr>
          <p:cNvSpPr/>
          <p:nvPr/>
        </p:nvSpPr>
        <p:spPr>
          <a:xfrm>
            <a:off x="632422" y="1670196"/>
            <a:ext cx="4730715" cy="4054443"/>
          </a:xfrm>
          <a:prstGeom prst="rect">
            <a:avLst/>
          </a:prstGeom>
          <a:solidFill>
            <a:srgbClr val="F7E4FC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</a:rPr>
              <a:t>在基于</a:t>
            </a:r>
            <a:r>
              <a:rPr lang="zh-CN" altLang="en-US" sz="2000" b="1" dirty="0">
                <a:latin typeface="+mj-ea"/>
              </a:rPr>
              <a:t>真实工业流水线</a:t>
            </a:r>
            <a:r>
              <a:rPr lang="zh-CN" altLang="en-US" sz="2000" dirty="0">
                <a:latin typeface="+mj-ea"/>
              </a:rPr>
              <a:t>和</a:t>
            </a:r>
            <a:r>
              <a:rPr lang="zh-CN" altLang="en-US" sz="2000" b="1" dirty="0">
                <a:latin typeface="+mj-ea"/>
              </a:rPr>
              <a:t>历史电价</a:t>
            </a:r>
            <a:r>
              <a:rPr lang="zh-CN" altLang="en-US" sz="2000" dirty="0">
                <a:latin typeface="+mj-ea"/>
              </a:rPr>
              <a:t>生成的数据集（</a:t>
            </a:r>
            <a:r>
              <a:rPr lang="en-US" altLang="zh-CN" sz="2000" b="1" dirty="0">
                <a:latin typeface="+mj-ea"/>
              </a:rPr>
              <a:t>21</a:t>
            </a:r>
            <a:r>
              <a:rPr lang="zh-CN" altLang="en-US" sz="2000" b="1" dirty="0">
                <a:latin typeface="+mj-ea"/>
              </a:rPr>
              <a:t>天、逐小时</a:t>
            </a:r>
            <a:r>
              <a:rPr lang="zh-CN" altLang="en-US" sz="2000" dirty="0">
                <a:latin typeface="+mj-ea"/>
              </a:rPr>
              <a:t>用电和价格数据）上拟合工业过程模型参数</a:t>
            </a:r>
            <a:endParaRPr lang="en-US" altLang="zh-CN" sz="2000" dirty="0">
              <a:latin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</a:rPr>
              <a:t>利用拟合得到的模型，模拟工厂在测试集（此前未出现过的电价场景）下的逐小时用能。</a:t>
            </a:r>
            <a:endParaRPr lang="en-US" altLang="zh-CN" sz="2000" dirty="0">
              <a:latin typeface="+mj-ea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</a:rPr>
              <a:t>如果基于电表数据拟合的</a:t>
            </a:r>
            <a:r>
              <a:rPr lang="en-US" altLang="zh-CN" sz="2000" dirty="0">
                <a:latin typeface="+mj-ea"/>
              </a:rPr>
              <a:t>PS</a:t>
            </a:r>
            <a:r>
              <a:rPr lang="zh-CN" altLang="en-US" sz="2000" dirty="0">
                <a:latin typeface="+mj-ea"/>
              </a:rPr>
              <a:t>模型在测试集上的用能结果与基于真实设备参数的结果接近，就说明我们的方法是有效的。</a:t>
            </a:r>
            <a:endParaRPr lang="en-US" altLang="zh-CN" sz="2000" dirty="0">
              <a:latin typeface="+mj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2E7B82B-0C66-4643-A257-BDE99E892E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3137" y="1148413"/>
            <a:ext cx="6356571" cy="5335143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64560EEA-E25F-4DE5-BFAD-53FF23F25699}"/>
              </a:ext>
            </a:extLst>
          </p:cNvPr>
          <p:cNvSpPr txBox="1"/>
          <p:nvPr/>
        </p:nvSpPr>
        <p:spPr>
          <a:xfrm>
            <a:off x="632422" y="1187187"/>
            <a:ext cx="2137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rgbClr val="074C97"/>
                </a:solidFill>
              </a:defRPr>
            </a:lvl1pPr>
          </a:lstStyle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数值测试效果</a:t>
            </a:r>
          </a:p>
        </p:txBody>
      </p:sp>
    </p:spTree>
    <p:extLst>
      <p:ext uri="{BB962C8B-B14F-4D97-AF65-F5344CB8AC3E}">
        <p14:creationId xmlns:p14="http://schemas.microsoft.com/office/powerpoint/2010/main" val="130748185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168"/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8"/>
          <a:stretch/>
        </p:blipFill>
        <p:spPr>
          <a:xfrm flipH="1">
            <a:off x="5598767" y="-1"/>
            <a:ext cx="3326355" cy="995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933" y="0"/>
            <a:ext cx="3326355" cy="973859"/>
          </a:xfrm>
          <a:prstGeom prst="rect">
            <a:avLst/>
          </a:prstGeom>
        </p:spPr>
      </p:pic>
      <p:sp>
        <p:nvSpPr>
          <p:cNvPr id="78" name="矩形 77"/>
          <p:cNvSpPr/>
          <p:nvPr/>
        </p:nvSpPr>
        <p:spPr>
          <a:xfrm>
            <a:off x="0" y="0"/>
            <a:ext cx="12217288" cy="995306"/>
          </a:xfrm>
          <a:prstGeom prst="rect">
            <a:avLst/>
          </a:prstGeom>
          <a:gradFill flip="none" rotWithShape="1">
            <a:gsLst>
              <a:gs pos="54501">
                <a:srgbClr val="580C6E"/>
              </a:gs>
              <a:gs pos="73000">
                <a:srgbClr val="61106A">
                  <a:alpha val="90000"/>
                </a:srgbClr>
              </a:gs>
              <a:gs pos="84000">
                <a:srgbClr val="952064">
                  <a:alpha val="46000"/>
                </a:srgbClr>
              </a:gs>
              <a:gs pos="34845">
                <a:srgbClr val="580C6E"/>
              </a:gs>
              <a:gs pos="0">
                <a:srgbClr val="580C6E">
                  <a:lumMod val="100000"/>
                </a:srgbClr>
              </a:gs>
              <a:gs pos="100000">
                <a:srgbClr val="AC276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ea"/>
              <a:sym typeface="+mn-lt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11" cstate="screen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2000" contrast="-40000"/>
                    </a14:imgEffect>
                    <a14:imgEffect>
                      <a14:saturation sat="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41" y="125580"/>
            <a:ext cx="747562" cy="778934"/>
          </a:xfrm>
          <a:prstGeom prst="rect">
            <a:avLst/>
          </a:prstGeom>
          <a:ln>
            <a:solidFill>
              <a:srgbClr val="580C6E"/>
            </a:solidFill>
          </a:ln>
        </p:spPr>
      </p:pic>
      <p:sp>
        <p:nvSpPr>
          <p:cNvPr id="175" name="文本框 174"/>
          <p:cNvSpPr txBox="1"/>
          <p:nvPr/>
        </p:nvSpPr>
        <p:spPr>
          <a:xfrm>
            <a:off x="1237615" y="191881"/>
            <a:ext cx="10306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prstClr val="white"/>
                </a:solidFill>
                <a:latin typeface="Arial"/>
                <a:ea typeface="微软雅黑"/>
                <a:cs typeface="+mn-ea"/>
                <a:sym typeface="+mn-lt"/>
              </a:rPr>
              <a:t>测试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rPr>
              <a:t>结果</a:t>
            </a:r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E1C93807-F228-4D80-6A55-5AEFD979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4232" y="64835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7EE5D8-6200-46CA-A960-1DA5B550D2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Ext-Normal"/>
                <a:ea typeface="OPPOSans B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EF515B-ABC1-4476-890C-31D9606D362E}"/>
              </a:ext>
            </a:extLst>
          </p:cNvPr>
          <p:cNvSpPr/>
          <p:nvPr/>
        </p:nvSpPr>
        <p:spPr>
          <a:xfrm>
            <a:off x="632422" y="1075000"/>
            <a:ext cx="10656503" cy="1485920"/>
          </a:xfrm>
          <a:prstGeom prst="rect">
            <a:avLst/>
          </a:prstGeom>
          <a:solidFill>
            <a:srgbClr val="F7E4FC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j-ea"/>
              </a:rPr>
              <a:t>结果：以较高精度辨识工厂的</a:t>
            </a:r>
            <a:r>
              <a:rPr lang="zh-CN" altLang="en-US" sz="2400" b="1" dirty="0">
                <a:latin typeface="+mj-ea"/>
              </a:rPr>
              <a:t>生产流程模型参数</a:t>
            </a:r>
            <a:r>
              <a:rPr lang="zh-CN" altLang="en-US" sz="2400" dirty="0">
                <a:latin typeface="+mj-ea"/>
              </a:rPr>
              <a:t>（包括：各生产环节的额定功率、存储上下限、生产目标等）；基于所辨识出的用能模型，能够准确</a:t>
            </a:r>
            <a:r>
              <a:rPr lang="zh-CN" altLang="en-US" sz="2400" b="1" dirty="0">
                <a:latin typeface="+mj-ea"/>
              </a:rPr>
              <a:t>模拟该工厂对需求响应激励的用电响应</a:t>
            </a:r>
            <a:r>
              <a:rPr lang="zh-CN" altLang="en-US" sz="2400" dirty="0">
                <a:latin typeface="+mj-ea"/>
              </a:rPr>
              <a:t>，准确性</a:t>
            </a:r>
            <a:r>
              <a:rPr lang="zh-CN" altLang="en-US" sz="2400" b="1" dirty="0">
                <a:latin typeface="+mj-ea"/>
              </a:rPr>
              <a:t>明显高于机器学习方法</a:t>
            </a:r>
            <a:r>
              <a:rPr lang="zh-CN" altLang="en-US" sz="2400" dirty="0">
                <a:latin typeface="+mj-ea"/>
              </a:rPr>
              <a:t>。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BA97F3-F373-4416-8B04-B5AB5A930471}"/>
              </a:ext>
            </a:extLst>
          </p:cNvPr>
          <p:cNvSpPr/>
          <p:nvPr/>
        </p:nvSpPr>
        <p:spPr>
          <a:xfrm>
            <a:off x="8755187" y="5463352"/>
            <a:ext cx="333363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latin typeface="+mj-ea"/>
                <a:ea typeface="+mj-ea"/>
                <a:cs typeface="Aparajita" panose="020B0604020202020204" pitchFamily="34" charset="0"/>
              </a:rPr>
              <a:t>在两个建模任务上的误差比传统机器学习方法低</a:t>
            </a:r>
            <a:r>
              <a:rPr lang="en-US" altLang="zh-CN" b="1" dirty="0">
                <a:latin typeface="+mj-ea"/>
                <a:ea typeface="+mj-ea"/>
                <a:cs typeface="Aparajita" panose="020B0604020202020204" pitchFamily="34" charset="0"/>
              </a:rPr>
              <a:t>55%</a:t>
            </a:r>
            <a:r>
              <a:rPr lang="zh-CN" altLang="en-US" b="1" dirty="0">
                <a:latin typeface="+mj-ea"/>
                <a:ea typeface="+mj-ea"/>
                <a:cs typeface="Aparajita" panose="020B0604020202020204" pitchFamily="34" charset="0"/>
              </a:rPr>
              <a:t>以上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9876B6F-F02C-4050-B1F1-DC2EADDA65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2340" y="3726163"/>
            <a:ext cx="3966477" cy="1512251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9B81200A-BB6C-46FB-BE52-ED4AB6431915}"/>
              </a:ext>
            </a:extLst>
          </p:cNvPr>
          <p:cNvSpPr txBox="1"/>
          <p:nvPr/>
        </p:nvSpPr>
        <p:spPr>
          <a:xfrm>
            <a:off x="1010566" y="5879892"/>
            <a:ext cx="2132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Aparajita" panose="020B0604020202020204" pitchFamily="34" charset="0"/>
              </a:rPr>
              <a:t>模型参数辨识结果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48F6460-86FE-497E-A8B1-7418E1F2488E}"/>
              </a:ext>
            </a:extLst>
          </p:cNvPr>
          <p:cNvSpPr txBox="1"/>
          <p:nvPr/>
        </p:nvSpPr>
        <p:spPr>
          <a:xfrm>
            <a:off x="2517965" y="3307721"/>
            <a:ext cx="757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Aparajita" panose="020B0604020202020204" pitchFamily="34" charset="0"/>
              </a:rPr>
              <a:t>真值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6B6019-DFA6-49C4-B912-3B0B6A42584E}"/>
              </a:ext>
            </a:extLst>
          </p:cNvPr>
          <p:cNvSpPr txBox="1"/>
          <p:nvPr/>
        </p:nvSpPr>
        <p:spPr>
          <a:xfrm>
            <a:off x="3134313" y="3307721"/>
            <a:ext cx="1143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Aparajita" panose="020B0604020202020204" pitchFamily="34" charset="0"/>
              </a:rPr>
              <a:t>辨识结果</a:t>
            </a:r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334E516-8E62-4973-AD3C-C5A1DE63FB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8642" y="3589184"/>
            <a:ext cx="3674789" cy="2290708"/>
          </a:xfrm>
          <a:prstGeom prst="rect">
            <a:avLst/>
          </a:prstGeom>
        </p:spPr>
      </p:pic>
      <p:sp>
        <p:nvSpPr>
          <p:cNvPr id="32" name="文本占位符 2">
            <a:extLst>
              <a:ext uri="{FF2B5EF4-FFF2-40B4-BE49-F238E27FC236}">
                <a16:creationId xmlns:a16="http://schemas.microsoft.com/office/drawing/2014/main" id="{9E376793-A5AD-499B-B274-704A36035CF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8641" y="3109981"/>
            <a:ext cx="3958724" cy="3139244"/>
          </a:xfrm>
          <a:prstGeom prst="rect">
            <a:avLst/>
          </a:prstGeom>
          <a:ln>
            <a:solidFill>
              <a:srgbClr val="0A5C50"/>
            </a:solidFill>
            <a:prstDash val="dash"/>
          </a:ln>
        </p:spPr>
        <p:txBody>
          <a:bodyPr/>
          <a:lstStyle>
            <a:lvl1pPr marL="0" indent="4572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00E43AC6-DA3D-472B-B32C-4E8E5658C3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68506" y="3124640"/>
            <a:ext cx="3629444" cy="3139244"/>
          </a:xfrm>
          <a:prstGeom prst="rect">
            <a:avLst/>
          </a:prstGeom>
          <a:ln>
            <a:solidFill>
              <a:srgbClr val="0A5C50"/>
            </a:solidFill>
            <a:prstDash val="dash"/>
          </a:ln>
        </p:spPr>
        <p:txBody>
          <a:bodyPr/>
          <a:lstStyle>
            <a:lvl1pPr marL="0" indent="4572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5" name="内容占位符 2">
            <a:extLst>
              <a:ext uri="{FF2B5EF4-FFF2-40B4-BE49-F238E27FC236}">
                <a16:creationId xmlns:a16="http://schemas.microsoft.com/office/drawing/2014/main" id="{197CEDF0-9890-4F12-9834-A7A9DBD1393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8642" y="2728670"/>
            <a:ext cx="3958724" cy="339450"/>
          </a:xfrm>
          <a:prstGeom prst="roundRect">
            <a:avLst/>
          </a:prstGeom>
          <a:solidFill>
            <a:srgbClr val="7030A0"/>
          </a:solidFill>
          <a:ln>
            <a:noFill/>
            <a:prstDash val="dash"/>
          </a:ln>
        </p:spPr>
        <p:txBody>
          <a:bodyPr wrap="square" tIns="18000" bIns="18000">
            <a:spAutoFit/>
          </a:bodyPr>
          <a:lstStyle>
            <a:defPPr>
              <a:defRPr lang="zh-CN"/>
            </a:defPPr>
            <a:lvl1pPr indent="0" algn="ctr" defTabSz="1214755" fontAlgn="base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None/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39775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38555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594485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49780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06345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6pPr>
            <a:lvl7pPr marL="2962275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7pPr>
            <a:lvl8pPr marL="3418205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8pPr>
            <a:lvl9pPr marL="3873500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9pPr>
          </a:lstStyle>
          <a:p>
            <a:r>
              <a:rPr lang="zh-CN" altLang="en-US" dirty="0"/>
              <a:t>参数辨识结果</a:t>
            </a:r>
          </a:p>
        </p:txBody>
      </p:sp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B0646457-0426-48F1-B5AF-624912FD8FF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268506" y="2728670"/>
            <a:ext cx="3629443" cy="339450"/>
          </a:xfrm>
          <a:prstGeom prst="roundRect">
            <a:avLst/>
          </a:prstGeom>
          <a:solidFill>
            <a:srgbClr val="7030A0"/>
          </a:solidFill>
          <a:ln>
            <a:noFill/>
            <a:prstDash val="dash"/>
          </a:ln>
        </p:spPr>
        <p:txBody>
          <a:bodyPr wrap="square" tIns="18000" bIns="18000">
            <a:spAutoFit/>
          </a:bodyPr>
          <a:lstStyle>
            <a:defPPr>
              <a:defRPr lang="zh-CN"/>
            </a:defPPr>
            <a:lvl1pPr indent="0" algn="ctr" defTabSz="1214755" fontAlgn="base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None/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39775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38555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594485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49780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06345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6pPr>
            <a:lvl7pPr marL="2962275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7pPr>
            <a:lvl8pPr marL="3418205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8pPr>
            <a:lvl9pPr marL="3873500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9pPr>
          </a:lstStyle>
          <a:p>
            <a:r>
              <a:rPr lang="zh-CN" altLang="en-US" dirty="0"/>
              <a:t>模型精度测试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5FC877-4108-42AE-B2CB-829D9E884619}"/>
              </a:ext>
            </a:extLst>
          </p:cNvPr>
          <p:cNvSpPr/>
          <p:nvPr/>
        </p:nvSpPr>
        <p:spPr>
          <a:xfrm>
            <a:off x="4233271" y="5518230"/>
            <a:ext cx="5080818" cy="72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latin typeface="+mj-ea"/>
                <a:ea typeface="+mj-ea"/>
                <a:cs typeface="Aparajita" panose="020B0604020202020204" pitchFamily="34" charset="0"/>
              </a:rPr>
              <a:t>用于测试的钢粉生产流水线和电价情况</a:t>
            </a:r>
            <a:endParaRPr lang="en-US" altLang="zh-CN" b="1" dirty="0">
              <a:latin typeface="+mj-ea"/>
              <a:ea typeface="+mj-ea"/>
              <a:cs typeface="Aparajita" panose="020B0604020202020204" pitchFamily="34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latin typeface="+mj-ea"/>
                <a:ea typeface="+mj-ea"/>
                <a:cs typeface="Aparajita" panose="020B0604020202020204" pitchFamily="34" charset="0"/>
              </a:rPr>
              <a:t>(</a:t>
            </a:r>
            <a:r>
              <a:rPr lang="zh-CN" altLang="en-US" b="1" dirty="0">
                <a:latin typeface="+mj-ea"/>
                <a:ea typeface="+mj-ea"/>
                <a:cs typeface="Aparajita" panose="020B0604020202020204" pitchFamily="34" charset="0"/>
              </a:rPr>
              <a:t>黑色：真值；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  <a:cs typeface="Aparajita" panose="020B0604020202020204" pitchFamily="34" charset="0"/>
              </a:rPr>
              <a:t>红色：预测值</a:t>
            </a:r>
            <a:r>
              <a:rPr lang="en-US" altLang="zh-CN" b="1" dirty="0">
                <a:latin typeface="+mj-ea"/>
                <a:ea typeface="+mj-ea"/>
                <a:cs typeface="Aparajita" panose="020B0604020202020204" pitchFamily="34" charset="0"/>
              </a:rPr>
              <a:t>)</a:t>
            </a:r>
            <a:endParaRPr lang="zh-CN" altLang="en-US" dirty="0">
              <a:latin typeface="+mj-ea"/>
              <a:ea typeface="+mj-ea"/>
              <a:cs typeface="Aparajita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D5CB877-6FEC-48B0-A56E-8448E0625FF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9971" y="3413005"/>
            <a:ext cx="3855971" cy="2105224"/>
          </a:xfrm>
          <a:prstGeom prst="rect">
            <a:avLst/>
          </a:prstGeom>
        </p:spPr>
      </p:pic>
      <p:sp>
        <p:nvSpPr>
          <p:cNvPr id="31" name="文本占位符 2">
            <a:extLst>
              <a:ext uri="{FF2B5EF4-FFF2-40B4-BE49-F238E27FC236}">
                <a16:creationId xmlns:a16="http://schemas.microsoft.com/office/drawing/2014/main" id="{790E5D3A-7BCB-4574-9525-13B35BAA94C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267346" y="3107968"/>
            <a:ext cx="3943637" cy="3139244"/>
          </a:xfrm>
          <a:prstGeom prst="rect">
            <a:avLst/>
          </a:prstGeom>
          <a:ln>
            <a:solidFill>
              <a:srgbClr val="0A5C50"/>
            </a:solidFill>
            <a:prstDash val="dash"/>
          </a:ln>
        </p:spPr>
        <p:txBody>
          <a:bodyPr/>
          <a:lstStyle>
            <a:lvl1pPr marL="0" indent="4572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BA99E5F3-8DF8-42A4-9D28-1FE747A4341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259802" y="2728670"/>
            <a:ext cx="3958724" cy="339450"/>
          </a:xfrm>
          <a:prstGeom prst="roundRect">
            <a:avLst/>
          </a:prstGeom>
          <a:solidFill>
            <a:srgbClr val="7030A0"/>
          </a:solidFill>
          <a:ln>
            <a:noFill/>
            <a:prstDash val="dash"/>
          </a:ln>
        </p:spPr>
        <p:txBody>
          <a:bodyPr wrap="square" tIns="18000" bIns="18000">
            <a:spAutoFit/>
          </a:bodyPr>
          <a:lstStyle>
            <a:defPPr>
              <a:defRPr lang="zh-CN"/>
            </a:defPPr>
            <a:lvl1pPr indent="0" algn="ctr" defTabSz="1214755" fontAlgn="base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None/>
              <a:def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39775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38555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594485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49780" indent="0" defTabSz="911225" fontAlgn="base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u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06345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6pPr>
            <a:lvl7pPr marL="2962275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7pPr>
            <a:lvl8pPr marL="3418205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8pPr>
            <a:lvl9pPr marL="3873500" indent="-227965" defTabSz="911225">
              <a:spcBef>
                <a:spcPct val="20000"/>
              </a:spcBef>
              <a:buFont typeface="Arial" panose="020B0604020202020204" pitchFamily="34" charset="0"/>
              <a:buChar char="•"/>
              <a:defRPr sz="1995"/>
            </a:lvl9pPr>
          </a:lstStyle>
          <a:p>
            <a:r>
              <a:rPr lang="zh-CN" altLang="en-US" dirty="0"/>
              <a:t>价格响应模拟</a:t>
            </a:r>
          </a:p>
        </p:txBody>
      </p:sp>
      <p:sp>
        <p:nvSpPr>
          <p:cNvPr id="2" name="TextBox 45">
            <a:extLst>
              <a:ext uri="{FF2B5EF4-FFF2-40B4-BE49-F238E27FC236}">
                <a16:creationId xmlns:a16="http://schemas.microsoft.com/office/drawing/2014/main" id="{B07AFEE3-BB21-9ECF-B646-3B46C40E0E9A}"/>
              </a:ext>
            </a:extLst>
          </p:cNvPr>
          <p:cNvSpPr txBox="1"/>
          <p:nvPr/>
        </p:nvSpPr>
        <p:spPr>
          <a:xfrm>
            <a:off x="961288" y="6356350"/>
            <a:ext cx="7559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8618">
              <a:spcAft>
                <a:spcPts val="300"/>
              </a:spcAft>
              <a:defRPr/>
            </a:pPr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Lyu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et al. (202</a:t>
            </a:r>
            <a:r>
              <a:rPr lang="en-US" altLang="zh-CN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“Production Scheduling Identification: An Inverse Optimization Approach for Industrial Load Modeling Using Smart Meter Data”, </a:t>
            </a:r>
            <a:r>
              <a:rPr lang="en-US" sz="1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IEEE Transactions on Smart Grid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543502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-17748" y="-15896"/>
            <a:ext cx="12227495" cy="6050360"/>
          </a:xfrm>
          <a:prstGeom prst="rect">
            <a:avLst/>
          </a:prstGeom>
          <a:gradFill flip="none" rotWithShape="1">
            <a:gsLst>
              <a:gs pos="100000">
                <a:srgbClr val="992164"/>
              </a:gs>
              <a:gs pos="73000">
                <a:srgbClr val="7A1769"/>
              </a:gs>
              <a:gs pos="0">
                <a:srgbClr val="580C6E"/>
              </a:gs>
              <a:gs pos="100000">
                <a:srgbClr val="AC276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6" name="图形 10"/>
          <p:cNvGrpSpPr/>
          <p:nvPr/>
        </p:nvGrpSpPr>
        <p:grpSpPr>
          <a:xfrm rot="1911398" flipH="1">
            <a:off x="-5715037" y="337485"/>
            <a:ext cx="18785954" cy="9463205"/>
            <a:chOff x="1364551" y="1662116"/>
            <a:chExt cx="9464325" cy="3530151"/>
          </a:xfrm>
          <a:noFill/>
        </p:grpSpPr>
        <p:sp>
          <p:nvSpPr>
            <p:cNvPr id="37" name="任意多边形: 形状 36"/>
            <p:cNvSpPr/>
            <p:nvPr/>
          </p:nvSpPr>
          <p:spPr>
            <a:xfrm>
              <a:off x="1364551" y="3777993"/>
              <a:ext cx="9464325" cy="1414274"/>
            </a:xfrm>
            <a:custGeom>
              <a:avLst/>
              <a:gdLst>
                <a:gd name="connsiteX0" fmla="*/ 0 w 9464325"/>
                <a:gd name="connsiteY0" fmla="*/ 1414275 h 1414274"/>
                <a:gd name="connsiteX1" fmla="*/ 3078766 w 9464325"/>
                <a:gd name="connsiteY1" fmla="*/ 426056 h 1414274"/>
                <a:gd name="connsiteX2" fmla="*/ 6081522 w 9464325"/>
                <a:gd name="connsiteY2" fmla="*/ 920213 h 1414274"/>
                <a:gd name="connsiteX3" fmla="*/ 9464326 w 9464325"/>
                <a:gd name="connsiteY3" fmla="*/ 46008 h 1414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64325" h="1414274">
                  <a:moveTo>
                    <a:pt x="0" y="1414275"/>
                  </a:moveTo>
                  <a:cubicBezTo>
                    <a:pt x="0" y="1414275"/>
                    <a:pt x="1824419" y="312042"/>
                    <a:pt x="3078766" y="426056"/>
                  </a:cubicBezTo>
                  <a:cubicBezTo>
                    <a:pt x="4184618" y="526545"/>
                    <a:pt x="4763834" y="1160910"/>
                    <a:pt x="6081522" y="920213"/>
                  </a:cubicBezTo>
                  <a:cubicBezTo>
                    <a:pt x="7029831" y="746953"/>
                    <a:pt x="8235410" y="-220025"/>
                    <a:pt x="9464326" y="4600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385887" y="3686296"/>
              <a:ext cx="9428702" cy="1351094"/>
            </a:xfrm>
            <a:custGeom>
              <a:avLst/>
              <a:gdLst>
                <a:gd name="connsiteX0" fmla="*/ 0 w 9428702"/>
                <a:gd name="connsiteY0" fmla="*/ 1351095 h 1351094"/>
                <a:gd name="connsiteX1" fmla="*/ 3014282 w 9428702"/>
                <a:gd name="connsiteY1" fmla="*/ 411263 h 1351094"/>
                <a:gd name="connsiteX2" fmla="*/ 6063139 w 9428702"/>
                <a:gd name="connsiteY2" fmla="*/ 975619 h 1351094"/>
                <a:gd name="connsiteX3" fmla="*/ 9428702 w 9428702"/>
                <a:gd name="connsiteY3" fmla="*/ 43788 h 1351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8702" h="1351094">
                  <a:moveTo>
                    <a:pt x="0" y="1351095"/>
                  </a:moveTo>
                  <a:cubicBezTo>
                    <a:pt x="0" y="1351095"/>
                    <a:pt x="1769840" y="284390"/>
                    <a:pt x="3014282" y="411263"/>
                  </a:cubicBezTo>
                  <a:cubicBezTo>
                    <a:pt x="4125754" y="528516"/>
                    <a:pt x="4762024" y="1211934"/>
                    <a:pt x="6063139" y="975619"/>
                  </a:cubicBezTo>
                  <a:cubicBezTo>
                    <a:pt x="7011639" y="803788"/>
                    <a:pt x="8199692" y="-222245"/>
                    <a:pt x="9428702" y="4378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1407128" y="3594367"/>
              <a:ext cx="9392983" cy="1288052"/>
            </a:xfrm>
            <a:custGeom>
              <a:avLst/>
              <a:gdLst>
                <a:gd name="connsiteX0" fmla="*/ 0 w 9392983"/>
                <a:gd name="connsiteY0" fmla="*/ 1288053 h 1288052"/>
                <a:gd name="connsiteX1" fmla="*/ 2949798 w 9392983"/>
                <a:gd name="connsiteY1" fmla="*/ 396513 h 1288052"/>
                <a:gd name="connsiteX2" fmla="*/ 6044661 w 9392983"/>
                <a:gd name="connsiteY2" fmla="*/ 1031163 h 1288052"/>
                <a:gd name="connsiteX3" fmla="*/ 9392983 w 9392983"/>
                <a:gd name="connsiteY3" fmla="*/ 41802 h 1288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92983" h="1288052">
                  <a:moveTo>
                    <a:pt x="0" y="1288053"/>
                  </a:moveTo>
                  <a:cubicBezTo>
                    <a:pt x="0" y="1288053"/>
                    <a:pt x="1715643" y="252780"/>
                    <a:pt x="2949798" y="396513"/>
                  </a:cubicBezTo>
                  <a:cubicBezTo>
                    <a:pt x="4067270" y="526719"/>
                    <a:pt x="4760119" y="1263002"/>
                    <a:pt x="6044661" y="1031163"/>
                  </a:cubicBezTo>
                  <a:cubicBezTo>
                    <a:pt x="6993446" y="860666"/>
                    <a:pt x="8163973" y="-224327"/>
                    <a:pt x="9392983" y="41802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1428464" y="3502412"/>
              <a:ext cx="9357169" cy="1225130"/>
            </a:xfrm>
            <a:custGeom>
              <a:avLst/>
              <a:gdLst>
                <a:gd name="connsiteX0" fmla="*/ 0 w 9357169"/>
                <a:gd name="connsiteY0" fmla="*/ 1225131 h 1225130"/>
                <a:gd name="connsiteX1" fmla="*/ 2885218 w 9357169"/>
                <a:gd name="connsiteY1" fmla="*/ 381978 h 1225130"/>
                <a:gd name="connsiteX2" fmla="*/ 6026182 w 9357169"/>
                <a:gd name="connsiteY2" fmla="*/ 1086923 h 1225130"/>
                <a:gd name="connsiteX3" fmla="*/ 9357169 w 9357169"/>
                <a:gd name="connsiteY3" fmla="*/ 39935 h 1225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57169" h="1225130">
                  <a:moveTo>
                    <a:pt x="0" y="1225131"/>
                  </a:moveTo>
                  <a:cubicBezTo>
                    <a:pt x="0" y="1225131"/>
                    <a:pt x="1661255" y="223672"/>
                    <a:pt x="2885218" y="381978"/>
                  </a:cubicBezTo>
                  <a:cubicBezTo>
                    <a:pt x="4008596" y="527330"/>
                    <a:pt x="4758214" y="1314190"/>
                    <a:pt x="6026182" y="1086923"/>
                  </a:cubicBezTo>
                  <a:cubicBezTo>
                    <a:pt x="6975158" y="917855"/>
                    <a:pt x="8128254" y="-226098"/>
                    <a:pt x="9357169" y="39935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449800" y="3410088"/>
              <a:ext cx="9321545" cy="1180334"/>
            </a:xfrm>
            <a:custGeom>
              <a:avLst/>
              <a:gdLst>
                <a:gd name="connsiteX0" fmla="*/ 0 w 9321545"/>
                <a:gd name="connsiteY0" fmla="*/ 1162484 h 1180334"/>
                <a:gd name="connsiteX1" fmla="*/ 2820734 w 9321545"/>
                <a:gd name="connsiteY1" fmla="*/ 367717 h 1180334"/>
                <a:gd name="connsiteX2" fmla="*/ 6007799 w 9321545"/>
                <a:gd name="connsiteY2" fmla="*/ 1142862 h 1180334"/>
                <a:gd name="connsiteX3" fmla="*/ 9321546 w 9321545"/>
                <a:gd name="connsiteY3" fmla="*/ 38248 h 118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21545" h="1180334">
                  <a:moveTo>
                    <a:pt x="0" y="1162484"/>
                  </a:moveTo>
                  <a:cubicBezTo>
                    <a:pt x="0" y="1162484"/>
                    <a:pt x="1606868" y="195125"/>
                    <a:pt x="2820734" y="367717"/>
                  </a:cubicBezTo>
                  <a:cubicBezTo>
                    <a:pt x="3949922" y="528309"/>
                    <a:pt x="4756309" y="1365747"/>
                    <a:pt x="6007799" y="1142862"/>
                  </a:cubicBezTo>
                  <a:cubicBezTo>
                    <a:pt x="6957060" y="975222"/>
                    <a:pt x="8092536" y="-227785"/>
                    <a:pt x="9321546" y="3824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1471040" y="3317886"/>
              <a:ext cx="9285732" cy="1233216"/>
            </a:xfrm>
            <a:custGeom>
              <a:avLst/>
              <a:gdLst>
                <a:gd name="connsiteX0" fmla="*/ 0 w 9285732"/>
                <a:gd name="connsiteY0" fmla="*/ 1099808 h 1233216"/>
                <a:gd name="connsiteX1" fmla="*/ 2756249 w 9285732"/>
                <a:gd name="connsiteY1" fmla="*/ 353429 h 1233216"/>
                <a:gd name="connsiteX2" fmla="*/ 5989320 w 9285732"/>
                <a:gd name="connsiteY2" fmla="*/ 1198869 h 1233216"/>
                <a:gd name="connsiteX3" fmla="*/ 9285732 w 9285732"/>
                <a:gd name="connsiteY3" fmla="*/ 36723 h 1233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5732" h="1233216">
                  <a:moveTo>
                    <a:pt x="0" y="1099808"/>
                  </a:moveTo>
                  <a:cubicBezTo>
                    <a:pt x="0" y="1099808"/>
                    <a:pt x="1552575" y="166739"/>
                    <a:pt x="2756249" y="353429"/>
                  </a:cubicBezTo>
                  <a:cubicBezTo>
                    <a:pt x="3891344" y="529547"/>
                    <a:pt x="4754499" y="1417277"/>
                    <a:pt x="5989320" y="1198869"/>
                  </a:cubicBezTo>
                  <a:cubicBezTo>
                    <a:pt x="6938772" y="1032562"/>
                    <a:pt x="8056817" y="-229405"/>
                    <a:pt x="9285732" y="36723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492377" y="3225423"/>
              <a:ext cx="9250108" cy="1286593"/>
            </a:xfrm>
            <a:custGeom>
              <a:avLst/>
              <a:gdLst>
                <a:gd name="connsiteX0" fmla="*/ 0 w 9250108"/>
                <a:gd name="connsiteY0" fmla="*/ 1037395 h 1286593"/>
                <a:gd name="connsiteX1" fmla="*/ 2691765 w 9250108"/>
                <a:gd name="connsiteY1" fmla="*/ 339402 h 1286593"/>
                <a:gd name="connsiteX2" fmla="*/ 5970937 w 9250108"/>
                <a:gd name="connsiteY2" fmla="*/ 1255041 h 1286593"/>
                <a:gd name="connsiteX3" fmla="*/ 9250109 w 9250108"/>
                <a:gd name="connsiteY3" fmla="*/ 35269 h 1286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50108" h="1286593">
                  <a:moveTo>
                    <a:pt x="0" y="1037395"/>
                  </a:moveTo>
                  <a:cubicBezTo>
                    <a:pt x="0" y="1037395"/>
                    <a:pt x="1498187" y="138901"/>
                    <a:pt x="2691765" y="339402"/>
                  </a:cubicBezTo>
                  <a:cubicBezTo>
                    <a:pt x="3832765" y="531141"/>
                    <a:pt x="4752594" y="1469067"/>
                    <a:pt x="5970937" y="1255041"/>
                  </a:cubicBezTo>
                  <a:cubicBezTo>
                    <a:pt x="6920675" y="1090163"/>
                    <a:pt x="8021098" y="-230764"/>
                    <a:pt x="9250109" y="35269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1513713" y="3132904"/>
              <a:ext cx="9214485" cy="1340243"/>
            </a:xfrm>
            <a:custGeom>
              <a:avLst/>
              <a:gdLst>
                <a:gd name="connsiteX0" fmla="*/ 0 w 9214485"/>
                <a:gd name="connsiteY0" fmla="*/ 974942 h 1340243"/>
                <a:gd name="connsiteX1" fmla="*/ 2627281 w 9214485"/>
                <a:gd name="connsiteY1" fmla="*/ 325337 h 1340243"/>
                <a:gd name="connsiteX2" fmla="*/ 5952554 w 9214485"/>
                <a:gd name="connsiteY2" fmla="*/ 1311270 h 1340243"/>
                <a:gd name="connsiteX3" fmla="*/ 9214485 w 9214485"/>
                <a:gd name="connsiteY3" fmla="*/ 33967 h 1340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4485" h="1340243">
                  <a:moveTo>
                    <a:pt x="0" y="974942"/>
                  </a:moveTo>
                  <a:cubicBezTo>
                    <a:pt x="0" y="974942"/>
                    <a:pt x="1443800" y="111120"/>
                    <a:pt x="2627281" y="325337"/>
                  </a:cubicBezTo>
                  <a:cubicBezTo>
                    <a:pt x="3774186" y="532887"/>
                    <a:pt x="4750785" y="1520725"/>
                    <a:pt x="5952554" y="1311270"/>
                  </a:cubicBezTo>
                  <a:cubicBezTo>
                    <a:pt x="6902482" y="1147821"/>
                    <a:pt x="7985474" y="-232161"/>
                    <a:pt x="9214485" y="33967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535048" y="3040331"/>
              <a:ext cx="9178670" cy="1394298"/>
            </a:xfrm>
            <a:custGeom>
              <a:avLst/>
              <a:gdLst>
                <a:gd name="connsiteX0" fmla="*/ 0 w 9178670"/>
                <a:gd name="connsiteY0" fmla="*/ 912638 h 1394298"/>
                <a:gd name="connsiteX1" fmla="*/ 2562797 w 9178670"/>
                <a:gd name="connsiteY1" fmla="*/ 311420 h 1394298"/>
                <a:gd name="connsiteX2" fmla="*/ 5934075 w 9178670"/>
                <a:gd name="connsiteY2" fmla="*/ 1367648 h 1394298"/>
                <a:gd name="connsiteX3" fmla="*/ 9178671 w 9178670"/>
                <a:gd name="connsiteY3" fmla="*/ 32719 h 139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78670" h="1394298">
                  <a:moveTo>
                    <a:pt x="0" y="912638"/>
                  </a:moveTo>
                  <a:cubicBezTo>
                    <a:pt x="0" y="912638"/>
                    <a:pt x="1389412" y="83868"/>
                    <a:pt x="2562797" y="311420"/>
                  </a:cubicBezTo>
                  <a:cubicBezTo>
                    <a:pt x="3715607" y="534972"/>
                    <a:pt x="4748879" y="1572626"/>
                    <a:pt x="5934075" y="1367648"/>
                  </a:cubicBezTo>
                  <a:cubicBezTo>
                    <a:pt x="6884194" y="1205532"/>
                    <a:pt x="7949756" y="-233314"/>
                    <a:pt x="9178671" y="32719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556289" y="2947464"/>
              <a:ext cx="9142952" cy="1448684"/>
            </a:xfrm>
            <a:custGeom>
              <a:avLst/>
              <a:gdLst>
                <a:gd name="connsiteX0" fmla="*/ 0 w 9142952"/>
                <a:gd name="connsiteY0" fmla="*/ 850534 h 1448684"/>
                <a:gd name="connsiteX1" fmla="*/ 2498217 w 9142952"/>
                <a:gd name="connsiteY1" fmla="*/ 297703 h 1448684"/>
                <a:gd name="connsiteX2" fmla="*/ 5915597 w 9142952"/>
                <a:gd name="connsiteY2" fmla="*/ 1424130 h 1448684"/>
                <a:gd name="connsiteX3" fmla="*/ 9142953 w 9142952"/>
                <a:gd name="connsiteY3" fmla="*/ 31575 h 144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2952" h="1448684">
                  <a:moveTo>
                    <a:pt x="0" y="850534"/>
                  </a:moveTo>
                  <a:cubicBezTo>
                    <a:pt x="0" y="850534"/>
                    <a:pt x="1334929" y="56911"/>
                    <a:pt x="2498217" y="297703"/>
                  </a:cubicBezTo>
                  <a:cubicBezTo>
                    <a:pt x="3656838" y="537448"/>
                    <a:pt x="4746975" y="1624726"/>
                    <a:pt x="5915597" y="1424130"/>
                  </a:cubicBezTo>
                  <a:cubicBezTo>
                    <a:pt x="6866001" y="1263443"/>
                    <a:pt x="7913942" y="-234458"/>
                    <a:pt x="9142953" y="31575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577625" y="2854784"/>
              <a:ext cx="9107329" cy="1503233"/>
            </a:xfrm>
            <a:custGeom>
              <a:avLst/>
              <a:gdLst>
                <a:gd name="connsiteX0" fmla="*/ 0 w 9107329"/>
                <a:gd name="connsiteY0" fmla="*/ 788337 h 1503233"/>
                <a:gd name="connsiteX1" fmla="*/ 2433733 w 9107329"/>
                <a:gd name="connsiteY1" fmla="*/ 283893 h 1503233"/>
                <a:gd name="connsiteX2" fmla="*/ 5897214 w 9107329"/>
                <a:gd name="connsiteY2" fmla="*/ 1480614 h 1503233"/>
                <a:gd name="connsiteX3" fmla="*/ 9107329 w 9107329"/>
                <a:gd name="connsiteY3" fmla="*/ 30528 h 1503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07329" h="1503233">
                  <a:moveTo>
                    <a:pt x="0" y="788337"/>
                  </a:moveTo>
                  <a:cubicBezTo>
                    <a:pt x="0" y="788337"/>
                    <a:pt x="1280541" y="30147"/>
                    <a:pt x="2433733" y="283893"/>
                  </a:cubicBezTo>
                  <a:cubicBezTo>
                    <a:pt x="3598164" y="540116"/>
                    <a:pt x="4745069" y="1676734"/>
                    <a:pt x="5897214" y="1480614"/>
                  </a:cubicBezTo>
                  <a:cubicBezTo>
                    <a:pt x="6847808" y="1321356"/>
                    <a:pt x="7878318" y="-235600"/>
                    <a:pt x="9107329" y="3052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1598961" y="2761788"/>
              <a:ext cx="9071610" cy="1558068"/>
            </a:xfrm>
            <a:custGeom>
              <a:avLst/>
              <a:gdLst>
                <a:gd name="connsiteX0" fmla="*/ 0 w 9071610"/>
                <a:gd name="connsiteY0" fmla="*/ 726362 h 1558068"/>
                <a:gd name="connsiteX1" fmla="*/ 2369248 w 9071610"/>
                <a:gd name="connsiteY1" fmla="*/ 270210 h 1558068"/>
                <a:gd name="connsiteX2" fmla="*/ 5878830 w 9071610"/>
                <a:gd name="connsiteY2" fmla="*/ 1537225 h 1558068"/>
                <a:gd name="connsiteX3" fmla="*/ 9071610 w 9071610"/>
                <a:gd name="connsiteY3" fmla="*/ 29513 h 155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71610" h="1558068">
                  <a:moveTo>
                    <a:pt x="0" y="726362"/>
                  </a:moveTo>
                  <a:cubicBezTo>
                    <a:pt x="0" y="726362"/>
                    <a:pt x="1225963" y="3700"/>
                    <a:pt x="2369248" y="270210"/>
                  </a:cubicBezTo>
                  <a:cubicBezTo>
                    <a:pt x="3539490" y="543006"/>
                    <a:pt x="4743260" y="1728868"/>
                    <a:pt x="5878830" y="1537225"/>
                  </a:cubicBezTo>
                  <a:cubicBezTo>
                    <a:pt x="6829711" y="1379301"/>
                    <a:pt x="7842695" y="-236520"/>
                    <a:pt x="9071610" y="29513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1620202" y="2668806"/>
              <a:ext cx="9035891" cy="1613130"/>
            </a:xfrm>
            <a:custGeom>
              <a:avLst/>
              <a:gdLst>
                <a:gd name="connsiteX0" fmla="*/ 0 w 9035891"/>
                <a:gd name="connsiteY0" fmla="*/ 664467 h 1613130"/>
                <a:gd name="connsiteX1" fmla="*/ 2304764 w 9035891"/>
                <a:gd name="connsiteY1" fmla="*/ 256702 h 1613130"/>
                <a:gd name="connsiteX2" fmla="*/ 5860352 w 9035891"/>
                <a:gd name="connsiteY2" fmla="*/ 1593917 h 1613130"/>
                <a:gd name="connsiteX3" fmla="*/ 9035891 w 9035891"/>
                <a:gd name="connsiteY3" fmla="*/ 28578 h 161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35891" h="1613130">
                  <a:moveTo>
                    <a:pt x="0" y="664467"/>
                  </a:moveTo>
                  <a:cubicBezTo>
                    <a:pt x="0" y="664467"/>
                    <a:pt x="1171480" y="-22381"/>
                    <a:pt x="2304764" y="256702"/>
                  </a:cubicBezTo>
                  <a:cubicBezTo>
                    <a:pt x="3480721" y="546262"/>
                    <a:pt x="4741355" y="1781083"/>
                    <a:pt x="5860352" y="1593917"/>
                  </a:cubicBezTo>
                  <a:cubicBezTo>
                    <a:pt x="6811423" y="1437421"/>
                    <a:pt x="7806880" y="-237455"/>
                    <a:pt x="9035891" y="2857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1641538" y="2575939"/>
              <a:ext cx="9000172" cy="1668302"/>
            </a:xfrm>
            <a:custGeom>
              <a:avLst/>
              <a:gdLst>
                <a:gd name="connsiteX0" fmla="*/ 0 w 9000172"/>
                <a:gd name="connsiteY0" fmla="*/ 602458 h 1668302"/>
                <a:gd name="connsiteX1" fmla="*/ 2240280 w 9000172"/>
                <a:gd name="connsiteY1" fmla="*/ 243080 h 1668302"/>
                <a:gd name="connsiteX2" fmla="*/ 5841968 w 9000172"/>
                <a:gd name="connsiteY2" fmla="*/ 1650589 h 1668302"/>
                <a:gd name="connsiteX3" fmla="*/ 9000172 w 9000172"/>
                <a:gd name="connsiteY3" fmla="*/ 27719 h 1668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0172" h="1668302">
                  <a:moveTo>
                    <a:pt x="0" y="602458"/>
                  </a:moveTo>
                  <a:cubicBezTo>
                    <a:pt x="0" y="602458"/>
                    <a:pt x="1116902" y="-48385"/>
                    <a:pt x="2240280" y="243080"/>
                  </a:cubicBezTo>
                  <a:cubicBezTo>
                    <a:pt x="3421952" y="549689"/>
                    <a:pt x="4739545" y="1833279"/>
                    <a:pt x="5841968" y="1650589"/>
                  </a:cubicBezTo>
                  <a:cubicBezTo>
                    <a:pt x="6793325" y="1495522"/>
                    <a:pt x="7771257" y="-238409"/>
                    <a:pt x="9000172" y="27719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1662874" y="2482864"/>
              <a:ext cx="8964548" cy="1723703"/>
            </a:xfrm>
            <a:custGeom>
              <a:avLst/>
              <a:gdLst>
                <a:gd name="connsiteX0" fmla="*/ 0 w 8964548"/>
                <a:gd name="connsiteY0" fmla="*/ 540561 h 1723703"/>
                <a:gd name="connsiteX1" fmla="*/ 2175796 w 8964548"/>
                <a:gd name="connsiteY1" fmla="*/ 229570 h 1723703"/>
                <a:gd name="connsiteX2" fmla="*/ 5823585 w 8964548"/>
                <a:gd name="connsiteY2" fmla="*/ 1707373 h 1723703"/>
                <a:gd name="connsiteX3" fmla="*/ 8964549 w 8964548"/>
                <a:gd name="connsiteY3" fmla="*/ 26878 h 1723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64548" h="1723703">
                  <a:moveTo>
                    <a:pt x="0" y="540561"/>
                  </a:moveTo>
                  <a:cubicBezTo>
                    <a:pt x="0" y="540561"/>
                    <a:pt x="1062228" y="-74087"/>
                    <a:pt x="2175796" y="229570"/>
                  </a:cubicBezTo>
                  <a:cubicBezTo>
                    <a:pt x="3363087" y="553420"/>
                    <a:pt x="4737735" y="1885586"/>
                    <a:pt x="5823585" y="1707373"/>
                  </a:cubicBezTo>
                  <a:cubicBezTo>
                    <a:pt x="6775133" y="1553640"/>
                    <a:pt x="7735539" y="-239156"/>
                    <a:pt x="8964549" y="26878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684115" y="2389726"/>
              <a:ext cx="8928829" cy="1779288"/>
            </a:xfrm>
            <a:custGeom>
              <a:avLst/>
              <a:gdLst>
                <a:gd name="connsiteX0" fmla="*/ 0 w 8928829"/>
                <a:gd name="connsiteY0" fmla="*/ 478823 h 1779288"/>
                <a:gd name="connsiteX1" fmla="*/ 2111216 w 8928829"/>
                <a:gd name="connsiteY1" fmla="*/ 216218 h 1779288"/>
                <a:gd name="connsiteX2" fmla="*/ 5805012 w 8928829"/>
                <a:gd name="connsiteY2" fmla="*/ 1764221 h 1779288"/>
                <a:gd name="connsiteX3" fmla="*/ 8928830 w 8928829"/>
                <a:gd name="connsiteY3" fmla="*/ 26099 h 177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28829" h="1779288">
                  <a:moveTo>
                    <a:pt x="0" y="478823"/>
                  </a:moveTo>
                  <a:cubicBezTo>
                    <a:pt x="0" y="478823"/>
                    <a:pt x="1007459" y="-99535"/>
                    <a:pt x="2111216" y="216218"/>
                  </a:cubicBezTo>
                  <a:cubicBezTo>
                    <a:pt x="3304032" y="557404"/>
                    <a:pt x="4735735" y="1938053"/>
                    <a:pt x="5805012" y="1764221"/>
                  </a:cubicBezTo>
                  <a:cubicBezTo>
                    <a:pt x="6756940" y="1611917"/>
                    <a:pt x="7699820" y="-239934"/>
                    <a:pt x="8928830" y="26099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705451" y="2296638"/>
              <a:ext cx="8893016" cy="1834890"/>
            </a:xfrm>
            <a:custGeom>
              <a:avLst/>
              <a:gdLst>
                <a:gd name="connsiteX0" fmla="*/ 0 w 8893016"/>
                <a:gd name="connsiteY0" fmla="*/ 416939 h 1834890"/>
                <a:gd name="connsiteX1" fmla="*/ 2046732 w 8893016"/>
                <a:gd name="connsiteY1" fmla="*/ 202722 h 1834890"/>
                <a:gd name="connsiteX2" fmla="*/ 5786628 w 8893016"/>
                <a:gd name="connsiteY2" fmla="*/ 1821019 h 1834890"/>
                <a:gd name="connsiteX3" fmla="*/ 8893016 w 8893016"/>
                <a:gd name="connsiteY3" fmla="*/ 25366 h 183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93016" h="1834890">
                  <a:moveTo>
                    <a:pt x="0" y="416939"/>
                  </a:moveTo>
                  <a:cubicBezTo>
                    <a:pt x="0" y="416939"/>
                    <a:pt x="952691" y="-124938"/>
                    <a:pt x="2046732" y="202722"/>
                  </a:cubicBezTo>
                  <a:cubicBezTo>
                    <a:pt x="3244977" y="561528"/>
                    <a:pt x="4733925" y="1990279"/>
                    <a:pt x="5786628" y="1821019"/>
                  </a:cubicBezTo>
                  <a:cubicBezTo>
                    <a:pt x="6738652" y="1670143"/>
                    <a:pt x="7664101" y="-240667"/>
                    <a:pt x="8893016" y="25366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1726787" y="2203415"/>
              <a:ext cx="8857392" cy="1890742"/>
            </a:xfrm>
            <a:custGeom>
              <a:avLst/>
              <a:gdLst>
                <a:gd name="connsiteX0" fmla="*/ 0 w 8857392"/>
                <a:gd name="connsiteY0" fmla="*/ 355286 h 1890742"/>
                <a:gd name="connsiteX1" fmla="*/ 1982248 w 8857392"/>
                <a:gd name="connsiteY1" fmla="*/ 189455 h 1890742"/>
                <a:gd name="connsiteX2" fmla="*/ 5768245 w 8857392"/>
                <a:gd name="connsiteY2" fmla="*/ 1877952 h 1890742"/>
                <a:gd name="connsiteX3" fmla="*/ 8857393 w 8857392"/>
                <a:gd name="connsiteY3" fmla="*/ 24673 h 189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57392" h="1890742">
                  <a:moveTo>
                    <a:pt x="0" y="355286"/>
                  </a:moveTo>
                  <a:cubicBezTo>
                    <a:pt x="0" y="355286"/>
                    <a:pt x="897827" y="-149920"/>
                    <a:pt x="1982248" y="189455"/>
                  </a:cubicBezTo>
                  <a:cubicBezTo>
                    <a:pt x="3185922" y="566074"/>
                    <a:pt x="4732020" y="2042830"/>
                    <a:pt x="5768245" y="1877952"/>
                  </a:cubicBezTo>
                  <a:cubicBezTo>
                    <a:pt x="6720459" y="1728410"/>
                    <a:pt x="7628382" y="-241360"/>
                    <a:pt x="8857393" y="24673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748123" y="2110330"/>
              <a:ext cx="8821578" cy="1946617"/>
            </a:xfrm>
            <a:custGeom>
              <a:avLst/>
              <a:gdLst>
                <a:gd name="connsiteX0" fmla="*/ 0 w 8821578"/>
                <a:gd name="connsiteY0" fmla="*/ 293494 h 1946617"/>
                <a:gd name="connsiteX1" fmla="*/ 1917764 w 8821578"/>
                <a:gd name="connsiteY1" fmla="*/ 176051 h 1946617"/>
                <a:gd name="connsiteX2" fmla="*/ 5749766 w 8821578"/>
                <a:gd name="connsiteY2" fmla="*/ 1934842 h 1946617"/>
                <a:gd name="connsiteX3" fmla="*/ 8821579 w 8821578"/>
                <a:gd name="connsiteY3" fmla="*/ 24032 h 19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21578" h="1946617">
                  <a:moveTo>
                    <a:pt x="0" y="293494"/>
                  </a:moveTo>
                  <a:cubicBezTo>
                    <a:pt x="0" y="293494"/>
                    <a:pt x="842867" y="-174850"/>
                    <a:pt x="1917764" y="176051"/>
                  </a:cubicBezTo>
                  <a:cubicBezTo>
                    <a:pt x="3126677" y="570767"/>
                    <a:pt x="4730211" y="2095243"/>
                    <a:pt x="5749766" y="1934842"/>
                  </a:cubicBezTo>
                  <a:cubicBezTo>
                    <a:pt x="6702266" y="1786728"/>
                    <a:pt x="7592663" y="-242097"/>
                    <a:pt x="8821579" y="24032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1769363" y="2016957"/>
              <a:ext cx="8785955" cy="2002662"/>
            </a:xfrm>
            <a:custGeom>
              <a:avLst/>
              <a:gdLst>
                <a:gd name="connsiteX0" fmla="*/ 0 w 8785955"/>
                <a:gd name="connsiteY0" fmla="*/ 231895 h 2002662"/>
                <a:gd name="connsiteX1" fmla="*/ 1853279 w 8785955"/>
                <a:gd name="connsiteY1" fmla="*/ 162744 h 2002662"/>
                <a:gd name="connsiteX2" fmla="*/ 5731383 w 8785955"/>
                <a:gd name="connsiteY2" fmla="*/ 1991829 h 2002662"/>
                <a:gd name="connsiteX3" fmla="*/ 8785955 w 8785955"/>
                <a:gd name="connsiteY3" fmla="*/ 23393 h 200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85955" h="2002662">
                  <a:moveTo>
                    <a:pt x="0" y="231895"/>
                  </a:moveTo>
                  <a:cubicBezTo>
                    <a:pt x="0" y="231895"/>
                    <a:pt x="787908" y="-199492"/>
                    <a:pt x="1853279" y="162744"/>
                  </a:cubicBezTo>
                  <a:cubicBezTo>
                    <a:pt x="3067431" y="575652"/>
                    <a:pt x="4728305" y="2147754"/>
                    <a:pt x="5731383" y="1991829"/>
                  </a:cubicBezTo>
                  <a:cubicBezTo>
                    <a:pt x="6684074" y="1845144"/>
                    <a:pt x="7557040" y="-242640"/>
                    <a:pt x="8785955" y="23393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1790700" y="1912397"/>
              <a:ext cx="8750236" cy="2070069"/>
            </a:xfrm>
            <a:custGeom>
              <a:avLst/>
              <a:gdLst>
                <a:gd name="connsiteX0" fmla="*/ 0 w 8750236"/>
                <a:gd name="connsiteY0" fmla="*/ 181578 h 2070069"/>
                <a:gd name="connsiteX1" fmla="*/ 1788700 w 8750236"/>
                <a:gd name="connsiteY1" fmla="*/ 160814 h 2070069"/>
                <a:gd name="connsiteX2" fmla="*/ 5712905 w 8750236"/>
                <a:gd name="connsiteY2" fmla="*/ 2060099 h 2070069"/>
                <a:gd name="connsiteX3" fmla="*/ 8750236 w 8750236"/>
                <a:gd name="connsiteY3" fmla="*/ 34131 h 207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50236" h="2070069">
                  <a:moveTo>
                    <a:pt x="0" y="181578"/>
                  </a:moveTo>
                  <a:cubicBezTo>
                    <a:pt x="0" y="181578"/>
                    <a:pt x="732758" y="-212757"/>
                    <a:pt x="1788700" y="160814"/>
                  </a:cubicBezTo>
                  <a:cubicBezTo>
                    <a:pt x="3007900" y="592106"/>
                    <a:pt x="4726401" y="2211642"/>
                    <a:pt x="5712905" y="2060099"/>
                  </a:cubicBezTo>
                  <a:cubicBezTo>
                    <a:pt x="6665881" y="1914843"/>
                    <a:pt x="7521226" y="-231997"/>
                    <a:pt x="8750236" y="34131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812036" y="1788977"/>
              <a:ext cx="8714517" cy="2156395"/>
            </a:xfrm>
            <a:custGeom>
              <a:avLst/>
              <a:gdLst>
                <a:gd name="connsiteX0" fmla="*/ 0 w 8714517"/>
                <a:gd name="connsiteY0" fmla="*/ 150026 h 2156395"/>
                <a:gd name="connsiteX1" fmla="*/ 1724215 w 8714517"/>
                <a:gd name="connsiteY1" fmla="*/ 177649 h 2156395"/>
                <a:gd name="connsiteX2" fmla="*/ 5694522 w 8714517"/>
                <a:gd name="connsiteY2" fmla="*/ 2147229 h 2156395"/>
                <a:gd name="connsiteX3" fmla="*/ 8714518 w 8714517"/>
                <a:gd name="connsiteY3" fmla="*/ 63635 h 215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14517" h="2156395">
                  <a:moveTo>
                    <a:pt x="0" y="150026"/>
                  </a:moveTo>
                  <a:cubicBezTo>
                    <a:pt x="0" y="150026"/>
                    <a:pt x="676942" y="-205256"/>
                    <a:pt x="1724215" y="177649"/>
                  </a:cubicBezTo>
                  <a:cubicBezTo>
                    <a:pt x="2947607" y="629705"/>
                    <a:pt x="4724495" y="2294295"/>
                    <a:pt x="5694522" y="2147229"/>
                  </a:cubicBezTo>
                  <a:cubicBezTo>
                    <a:pt x="6647688" y="2003306"/>
                    <a:pt x="7485507" y="-202399"/>
                    <a:pt x="8714518" y="63635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1833276" y="1662116"/>
              <a:ext cx="8678894" cy="2246283"/>
            </a:xfrm>
            <a:custGeom>
              <a:avLst/>
              <a:gdLst>
                <a:gd name="connsiteX0" fmla="*/ 0 w 8678894"/>
                <a:gd name="connsiteY0" fmla="*/ 122011 h 2246283"/>
                <a:gd name="connsiteX1" fmla="*/ 1659731 w 8678894"/>
                <a:gd name="connsiteY1" fmla="*/ 198021 h 2246283"/>
                <a:gd name="connsiteX2" fmla="*/ 5676138 w 8678894"/>
                <a:gd name="connsiteY2" fmla="*/ 2237895 h 2246283"/>
                <a:gd name="connsiteX3" fmla="*/ 8678894 w 8678894"/>
                <a:gd name="connsiteY3" fmla="*/ 96675 h 2246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78894" h="2246283">
                  <a:moveTo>
                    <a:pt x="0" y="122011"/>
                  </a:moveTo>
                  <a:cubicBezTo>
                    <a:pt x="0" y="122011"/>
                    <a:pt x="622268" y="-197743"/>
                    <a:pt x="1659731" y="198021"/>
                  </a:cubicBezTo>
                  <a:cubicBezTo>
                    <a:pt x="2888742" y="666746"/>
                    <a:pt x="4722686" y="2380389"/>
                    <a:pt x="5676138" y="2237895"/>
                  </a:cubicBezTo>
                  <a:cubicBezTo>
                    <a:pt x="6629495" y="2095401"/>
                    <a:pt x="7449884" y="-169359"/>
                    <a:pt x="8678894" y="96675"/>
                  </a:cubicBezTo>
                </a:path>
              </a:pathLst>
            </a:custGeom>
            <a:noFill/>
            <a:ln w="9525" cap="flat">
              <a:gradFill>
                <a:gsLst>
                  <a:gs pos="0">
                    <a:schemeClr val="bg1">
                      <a:alpha val="7000"/>
                    </a:schemeClr>
                  </a:gs>
                  <a:gs pos="74000">
                    <a:schemeClr val="bg1">
                      <a:alpha val="19000"/>
                    </a:schemeClr>
                  </a:gs>
                  <a:gs pos="83000">
                    <a:schemeClr val="bg1">
                      <a:alpha val="15000"/>
                    </a:schemeClr>
                  </a:gs>
                  <a:gs pos="100000">
                    <a:schemeClr val="bg1">
                      <a:alpha val="800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676709" y="1070728"/>
            <a:ext cx="3001231" cy="923425"/>
            <a:chOff x="9730702" y="211219"/>
            <a:chExt cx="2374282" cy="701101"/>
          </a:xfrm>
        </p:grpSpPr>
        <p:pic>
          <p:nvPicPr>
            <p:cNvPr id="110" name="图片 109"/>
            <p:cNvPicPr>
              <a:picLocks noChangeAspect="1"/>
            </p:cNvPicPr>
            <p:nvPr userDrawn="1"/>
          </p:nvPicPr>
          <p:blipFill>
            <a:blip r:embed="rId2" cstate="screen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2000" contrast="-40000"/>
                      </a14:imgEffect>
                      <a14:imgEffect>
                        <a14:saturation sat="0"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30702" y="211219"/>
              <a:ext cx="665681" cy="665680"/>
            </a:xfrm>
            <a:prstGeom prst="rect">
              <a:avLst/>
            </a:prstGeom>
          </p:spPr>
        </p:pic>
        <p:pic>
          <p:nvPicPr>
            <p:cNvPr id="111" name="图片 110"/>
            <p:cNvPicPr>
              <a:picLocks noChangeAspect="1"/>
            </p:cNvPicPr>
            <p:nvPr/>
          </p:nvPicPr>
          <p:blipFill rotWithShape="1">
            <a:blip r:embed="rId4" cstate="screen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483399" y="211219"/>
              <a:ext cx="1621585" cy="701101"/>
            </a:xfrm>
            <a:prstGeom prst="rect">
              <a:avLst/>
            </a:prstGeom>
          </p:spPr>
        </p:pic>
      </p:grpSp>
      <p:sp>
        <p:nvSpPr>
          <p:cNvPr id="116" name="文本框 115"/>
          <p:cNvSpPr txBox="1"/>
          <p:nvPr/>
        </p:nvSpPr>
        <p:spPr>
          <a:xfrm>
            <a:off x="956313" y="2387721"/>
            <a:ext cx="85622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6000" b="1" spc="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谢谢！</a:t>
            </a:r>
            <a:endParaRPr lang="zh-CN" altLang="en-US" sz="6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117" name="直接连接符 116"/>
          <p:cNvCxnSpPr/>
          <p:nvPr/>
        </p:nvCxnSpPr>
        <p:spPr>
          <a:xfrm>
            <a:off x="676709" y="2107150"/>
            <a:ext cx="71977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/>
          <p:cNvSpPr txBox="1"/>
          <p:nvPr/>
        </p:nvSpPr>
        <p:spPr>
          <a:xfrm>
            <a:off x="956313" y="3824327"/>
            <a:ext cx="41765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请批评指正！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CC601-7129-4E41-8F55-52C3B7702D0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564,&quot;width&quot;:928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ficlwo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ficlwo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9517</TotalTime>
  <Words>1299</Words>
  <Application>Microsoft Macintosh PowerPoint</Application>
  <PresentationFormat>宽屏</PresentationFormat>
  <Paragraphs>149</Paragraphs>
  <Slides>13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等线</vt:lpstr>
      <vt:lpstr>微软雅黑</vt:lpstr>
      <vt:lpstr>HelveticaExt-Normal</vt:lpstr>
      <vt:lpstr>Arial</vt:lpstr>
      <vt:lpstr>Cambria Math</vt:lpstr>
      <vt:lpstr>Tahoma</vt:lpstr>
      <vt:lpstr>Times New Roman</vt:lpstr>
      <vt:lpstr>Wingdings</vt:lpstr>
      <vt:lpstr>自定义设计方案</vt:lpstr>
      <vt:lpstr>1_自定义设计方案</vt:lpstr>
      <vt:lpstr>Visio.Drawing.15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3528571680@qq.com</dc:creator>
  <cp:lastModifiedBy>Ruike Lyu</cp:lastModifiedBy>
  <cp:revision>741</cp:revision>
  <dcterms:created xsi:type="dcterms:W3CDTF">2021-04-05T08:53:00Z</dcterms:created>
  <dcterms:modified xsi:type="dcterms:W3CDTF">2025-03-15T13:53:34Z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7D6207DFAF8C474294EF4F6911650BA1</vt:lpwstr>
  </property>
  <property fmtid="{D5CDD505-2E9C-101B-9397-08002B2CF9AE}" pid="3" name="KSOProductBuildVer">
    <vt:lpwstr>2052-11.1.0.10667</vt:lpwstr>
  </property>
</Properties>
</file>